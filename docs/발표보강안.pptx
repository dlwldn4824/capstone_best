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기존 발표자료(15장)를 대체하는 게 아니라, 고칠 곳과 더할 곳만 모은 원고다.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17320" y="2103120"/>
            <a:ext cx="1325880" cy="1325880"/>
          </a:xfrm>
          <a:prstGeom prst="roundRect">
            <a:avLst>
              <a:gd name="adj" fmla="val 49655"/>
            </a:avLst>
          </a:prstGeom>
          <a:solidFill>
            <a:srgbClr val="366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52928" y="312724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366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60520" y="2212848"/>
            <a:ext cx="6949440" cy="64008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3800" b="1">
                <a:solidFill>
                  <a:srgbClr val="1A1A1E"/>
                </a:solidFill>
                <a:latin typeface="Malgun Gothic"/>
              </a:rPr>
              <a:t>발표 자료 보강안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2889504"/>
            <a:ext cx="6949440" cy="56692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1">
                <a:solidFill>
                  <a:srgbClr val="3660FA"/>
                </a:solidFill>
                <a:latin typeface="Malgun Gothic"/>
              </a:rPr>
              <a:t>추가·수정 슬라이드 원고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3657600"/>
            <a:ext cx="6949440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>
                <a:solidFill>
                  <a:srgbClr val="6E6E77"/>
                </a:solidFill>
                <a:latin typeface="Malgun Gothic"/>
              </a:rPr>
              <a:t>기존 15장에서 고칠 5장 + 새로 넣을 13장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4005072"/>
            <a:ext cx="6949440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6E6E77"/>
                </a:solidFill>
                <a:latin typeface="Malgun Gothic"/>
              </a:rPr>
              <a:t>숫자는 전부 실행 결과에서 가져왔다 · outputs/tables/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3660FA"/>
                </a:solidFill>
                <a:latin typeface="Malgun Gothic"/>
              </a:rPr>
              <a:t>기존 2장 · 내용 채움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1">
                <a:solidFill>
                  <a:srgbClr val="1A1A1E"/>
                </a:solidFill>
                <a:latin typeface="Malgun Gothic"/>
              </a:rPr>
              <a:t>무엇을 확인하려 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6E6E77"/>
                </a:solidFill>
                <a:latin typeface="Malgun Gothic"/>
              </a:rPr>
              <a:t>캡스톤 진행 동기와 대상 사용자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5285232" cy="3611880"/>
          </a:xfrm>
          <a:prstGeom prst="roundRect">
            <a:avLst>
              <a:gd name="adj" fmla="val 253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5285232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1">
                <a:solidFill>
                  <a:srgbClr val="3660FA"/>
                </a:solidFill>
                <a:latin typeface="Malgun Gothic"/>
              </a:rPr>
              <a:t>동기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40864"/>
            <a:ext cx="5285232" cy="265176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8966"/>
              </a:lnSpc>
            </a:pPr>
            <a:r>
              <a:rPr sz="1450" b="0">
                <a:solidFill>
                  <a:srgbClr val="1A1A1E"/>
                </a:solidFill>
                <a:latin typeface="Malgun Gothic"/>
              </a:rPr>
              <a:t>건강 웨어러블은 “오늘 컨디션이 나쁘다”고 알린다.</a:t>
            </a:r>
          </a:p>
          <a:p>
            <a:pPr algn="l">
              <a:lnSpc>
                <a:spcPct val="148966"/>
              </a:lnSpc>
            </a:pPr>
            <a:r>
              <a:rPr sz="1450" b="0">
                <a:solidFill>
                  <a:srgbClr val="1A1A1E"/>
                </a:solidFill>
                <a:latin typeface="Malgun Gothic"/>
              </a:rPr>
              <a:t/>
            </a:r>
          </a:p>
          <a:p>
            <a:pPr algn="l">
              <a:lnSpc>
                <a:spcPct val="148966"/>
              </a:lnSpc>
            </a:pPr>
            <a:r>
              <a:rPr sz="1450" b="0">
                <a:solidFill>
                  <a:srgbClr val="1A1A1E"/>
                </a:solidFill>
                <a:latin typeface="Malgun Gothic"/>
              </a:rPr>
              <a:t>그런데 어제 술을 마셔서 그런 것이면,</a:t>
            </a:r>
          </a:p>
          <a:p>
            <a:pPr algn="l">
              <a:lnSpc>
                <a:spcPct val="148966"/>
              </a:lnSpc>
            </a:pPr>
            <a:r>
              <a:rPr sz="1450" b="0">
                <a:solidFill>
                  <a:srgbClr val="1A1A1E"/>
                </a:solidFill>
                <a:latin typeface="Malgun Gothic"/>
              </a:rPr>
              <a:t>기기는 그걸 모른 채 매일 빨간불을 켠다.</a:t>
            </a:r>
          </a:p>
          <a:p>
            <a:pPr algn="l">
              <a:lnSpc>
                <a:spcPct val="148966"/>
              </a:lnSpc>
            </a:pPr>
            <a:r>
              <a:rPr sz="1450" b="0">
                <a:solidFill>
                  <a:srgbClr val="1A1A1E"/>
                </a:solidFill>
                <a:latin typeface="Malgun Gothic"/>
              </a:rPr>
              <a:t/>
            </a:r>
          </a:p>
          <a:p>
            <a:pPr algn="l">
              <a:lnSpc>
                <a:spcPct val="148966"/>
              </a:lnSpc>
            </a:pPr>
            <a:r>
              <a:rPr sz="1450" b="0">
                <a:solidFill>
                  <a:srgbClr val="1A1A1E"/>
                </a:solidFill>
                <a:latin typeface="Malgun Gothic"/>
              </a:rPr>
              <a:t>그러다 진짜 아픈 날에도 무시하게 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00784"/>
            <a:ext cx="5285232" cy="3611880"/>
          </a:xfrm>
          <a:prstGeom prst="roundRect">
            <a:avLst>
              <a:gd name="adj" fmla="val 253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1920240"/>
            <a:ext cx="5285232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1">
                <a:solidFill>
                  <a:srgbClr val="3660FA"/>
                </a:solidFill>
                <a:latin typeface="Malgun Gothic"/>
              </a:rPr>
              <a:t>페르소나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55664" y="2304288"/>
            <a:ext cx="4846320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2304288"/>
            <a:ext cx="1004549" cy="65836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6245" y="2304288"/>
            <a:ext cx="3585738" cy="65836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웨어러블을 매일 차는 20–40대 직장인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55664" y="2962656"/>
            <a:ext cx="4846320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962656"/>
            <a:ext cx="1004549" cy="65836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생활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6245" y="2962656"/>
            <a:ext cx="3585738" cy="65836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주 3–4회 운동 · 잦은 야근 · 주 1–2회 음주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55664" y="3621024"/>
            <a:ext cx="4846320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3621024"/>
            <a:ext cx="1004549" cy="65836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겪는 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6245" y="3621024"/>
            <a:ext cx="3585738" cy="65836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이상 알림이 자주 뜨는데 대부분 본인은 이유를</a:t>
            </a:r>
          </a:p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73368" y="4306824"/>
            <a:ext cx="5010912" cy="603503"/>
          </a:xfrm>
          <a:prstGeom prst="roundRect">
            <a:avLst>
              <a:gd name="adj" fmla="val 9090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4279392"/>
            <a:ext cx="1004549" cy="65836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A1A1E"/>
                </a:solidFill>
                <a:latin typeface="Malgun Gothic"/>
              </a:rPr>
              <a:t>그래서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6245" y="4279392"/>
            <a:ext cx="3585738" cy="65836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알림을 신뢰하지 않게 되고, 결국 꺼버린다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76072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893307"/>
            <a:ext cx="10424160" cy="329184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D6412A"/>
                </a:solidFill>
                <a:latin typeface="Malgun Gothic"/>
              </a:rPr>
              <a:t>필요한 건 알림을 줄이는 게 아니라, 이유가 있는 날을 걷어내는 것이다.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3660FA"/>
                </a:solidFill>
                <a:latin typeface="Malgun Gothic"/>
              </a:rPr>
              <a:t>신규 · A순위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1">
                <a:solidFill>
                  <a:srgbClr val="1A1A1E"/>
                </a:solidFill>
                <a:latin typeface="Malgun Gothic"/>
              </a:rPr>
              <a:t>알림 횟수가 문제가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6E6E77"/>
                </a:solidFill>
                <a:latin typeface="Malgun Gothic"/>
              </a:rPr>
              <a:t>평소와 달라지는 날 자체가 훨씬 흔하다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989320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5989320" cy="420624"/>
          </a:xfrm>
          <a:prstGeom prst="roundRect">
            <a:avLst>
              <a:gd name="adj" fmla="val 21739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55648"/>
            <a:ext cx="3030789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심박이 평소보다 오르는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73205" y="1755648"/>
            <a:ext cx="2446466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얼마나 자주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" y="2203703"/>
            <a:ext cx="5897880" cy="493776"/>
          </a:xfrm>
          <a:prstGeom prst="roundRect">
            <a:avLst>
              <a:gd name="adj" fmla="val 11111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176272"/>
            <a:ext cx="3030789" cy="54864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A1A1E"/>
                </a:solidFill>
                <a:latin typeface="Malgun Gothic"/>
              </a:rPr>
              <a:t>운동 · 음주 · 늦게 잔 날 · 일이 몰린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3205" y="2176272"/>
            <a:ext cx="2446466" cy="54864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주 3–4회 → 월 15회 안팎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2724912"/>
            <a:ext cx="5733288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724912"/>
            <a:ext cx="3030789" cy="54864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실제로 감염되는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3205" y="2724912"/>
            <a:ext cx="2446466" cy="54864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성인 연 2–3회 → 월 0.2회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529584"/>
            <a:ext cx="5989320" cy="1773936"/>
          </a:xfrm>
          <a:prstGeom prst="roundRect">
            <a:avLst>
              <a:gd name="adj" fmla="val 515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712463"/>
            <a:ext cx="5989320" cy="29260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1">
                <a:solidFill>
                  <a:srgbClr val="1A1A1E"/>
                </a:solidFill>
                <a:latin typeface="Malgun Gothic"/>
              </a:rPr>
              <a:t>“평소와 다른 날” 중 진짜 아픈 날은 100번에 한두 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096512"/>
            <a:ext cx="5989320" cy="109728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72800"/>
              </a:lnSpc>
            </a:pPr>
            <a:r>
              <a:rPr sz="1250" b="0">
                <a:solidFill>
                  <a:srgbClr val="6E6E77"/>
                </a:solidFill>
                <a:latin typeface="Malgun Gothic"/>
              </a:rPr>
              <a:t>나머지는 전부 이유가 있는 날이다.</a:t>
            </a:r>
          </a:p>
          <a:p>
            <a:pPr algn="l">
              <a:lnSpc>
                <a:spcPct val="172800"/>
              </a:lnSpc>
            </a:pPr>
            <a:r>
              <a:rPr sz="1250" b="0">
                <a:solidFill>
                  <a:srgbClr val="6E6E77"/>
                </a:solidFill>
                <a:latin typeface="Malgun Gothic"/>
              </a:rPr>
              <a:t>선행연구의 0.66회/인·월(Mishra)은 문턱을 높게 잡은 결과다.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1755648"/>
            <a:ext cx="4636008" cy="3547872"/>
          </a:xfrm>
          <a:prstGeom prst="roundRect">
            <a:avLst>
              <a:gd name="adj" fmla="val 257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1956816"/>
            <a:ext cx="4636008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1">
                <a:solidFill>
                  <a:srgbClr val="3660FA"/>
                </a:solidFill>
                <a:latin typeface="Malgun Gothic"/>
              </a:rPr>
              <a:t>여기서 갈림길이 생긴다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2395728"/>
            <a:ext cx="4361688" cy="1298448"/>
          </a:xfrm>
          <a:prstGeom prst="roundRect">
            <a:avLst>
              <a:gd name="adj" fmla="val 5633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2542032"/>
            <a:ext cx="4361688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D6412A"/>
                </a:solidFill>
                <a:latin typeface="Malgun Gothic"/>
              </a:rPr>
              <a:t>문턱을 높이면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871216"/>
            <a:ext cx="4361688" cy="7315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68000"/>
              </a:lnSpc>
            </a:pPr>
            <a:r>
              <a:rPr sz="1200" b="0">
                <a:solidFill>
                  <a:srgbClr val="1A1A1E"/>
                </a:solidFill>
                <a:latin typeface="Malgun Gothic"/>
              </a:rPr>
              <a:t>알림은 조용해지지만 초기 신호를 놓친다.</a:t>
            </a:r>
          </a:p>
          <a:p>
            <a:pPr algn="l">
              <a:lnSpc>
                <a:spcPct val="168000"/>
              </a:lnSpc>
            </a:pPr>
            <a:r>
              <a:rPr sz="1200" b="0">
                <a:solidFill>
                  <a:srgbClr val="1A1A1E"/>
                </a:solidFill>
                <a:latin typeface="Malgun Gothic"/>
              </a:rPr>
              <a:t>초기에 잡는 게 이 기술의 존재 이유다.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3822191"/>
            <a:ext cx="4361688" cy="1298448"/>
          </a:xfrm>
          <a:prstGeom prst="roundRect">
            <a:avLst>
              <a:gd name="adj" fmla="val 5633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3968496"/>
            <a:ext cx="4361688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D6412A"/>
                </a:solidFill>
                <a:latin typeface="Malgun Gothic"/>
              </a:rPr>
              <a:t>문턱을 낮추면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297680"/>
            <a:ext cx="4361688" cy="7315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68000"/>
              </a:lnSpc>
            </a:pPr>
            <a:r>
              <a:rPr sz="1200" b="0">
                <a:solidFill>
                  <a:srgbClr val="1A1A1E"/>
                </a:solidFill>
                <a:latin typeface="Malgun Gothic"/>
              </a:rPr>
              <a:t>월 15회 쪽에서 헛경보가 쏟아진다.</a:t>
            </a:r>
          </a:p>
          <a:p>
            <a:pPr algn="l">
              <a:lnSpc>
                <a:spcPct val="168000"/>
              </a:lnSpc>
            </a:pPr>
            <a:r>
              <a:rPr sz="1200" b="0">
                <a:solidFill>
                  <a:srgbClr val="1A1A1E"/>
                </a:solidFill>
                <a:latin typeface="Malgun Gothic"/>
              </a:rPr>
              <a:t>사용자는 결국 알림을 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76072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893307"/>
            <a:ext cx="10424160" cy="329184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D6412A"/>
                </a:solidFill>
                <a:latin typeface="Malgun Gothic"/>
              </a:rPr>
              <a:t>문턱을 어디에 두든 손해다. 그 15회를 설명해서 걷어내야 풀린다.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6419088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50" b="0">
                <a:solidFill>
                  <a:srgbClr val="6E6E77"/>
                </a:solidFill>
                <a:latin typeface="Malgun Gothic"/>
              </a:rPr>
              <a:t>빈도는 일반 성인 기준 추정치 · 감염 빈도는 성인 연 2–3회 상기도 감염 기준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3660FA"/>
                </a:solidFill>
                <a:latin typeface="Malgun Gothic"/>
              </a:rPr>
              <a:t>신규 · A순위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1">
                <a:solidFill>
                  <a:srgbClr val="1A1A1E"/>
                </a:solidFill>
                <a:latin typeface="Malgun Gothic"/>
              </a:rPr>
              <a:t>감염을 찾지 말고, 설명되는 것을 걷어낸다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6E6E77"/>
                </a:solidFill>
                <a:latin typeface="Malgun Gothic"/>
              </a:rPr>
              <a:t>판정 흐름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4800600" cy="493776"/>
          </a:xfrm>
          <a:prstGeom prst="roundRect">
            <a:avLst>
              <a:gd name="adj" fmla="val 16666"/>
            </a:avLst>
          </a:prstGeom>
          <a:solidFill>
            <a:srgbClr val="E8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19072"/>
            <a:ext cx="4800600" cy="49377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이 사람의 평소와 다른가?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59152"/>
            <a:ext cx="4800600" cy="493776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359152"/>
            <a:ext cx="4800600" cy="49377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운동으로 설명되나?   가속도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68696" y="2359152"/>
            <a:ext cx="1371600" cy="49377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24704E"/>
                </a:solidFill>
                <a:latin typeface="Malgun Gothic"/>
              </a:rPr>
              <a:t>→  설명됨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999232"/>
            <a:ext cx="4800600" cy="493776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999232"/>
            <a:ext cx="4800600" cy="49377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스트레스로 설명되나?   피부전도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68696" y="2999232"/>
            <a:ext cx="1371600" cy="49377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24704E"/>
                </a:solidFill>
                <a:latin typeface="Malgun Gothic"/>
              </a:rPr>
              <a:t>→  설명됨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639312"/>
            <a:ext cx="4800600" cy="493776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639312"/>
            <a:ext cx="4800600" cy="49377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술 · 잠 부족인가?   사용자에게 물어봄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68696" y="3639312"/>
            <a:ext cx="1371600" cy="49377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24704E"/>
                </a:solidFill>
                <a:latin typeface="Malgun Gothic"/>
              </a:rPr>
              <a:t>→  설명됨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279392"/>
            <a:ext cx="4800600" cy="493776"/>
          </a:xfrm>
          <a:prstGeom prst="roundRect">
            <a:avLst>
              <a:gd name="adj" fmla="val 16666"/>
            </a:avLst>
          </a:prstGeom>
          <a:solidFill>
            <a:srgbClr val="3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279392"/>
            <a:ext cx="4800600" cy="49377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짚이는 것 없음 → 설명되지 않는 변화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919472"/>
            <a:ext cx="2267712" cy="493776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919472"/>
            <a:ext cx="2267712" cy="49377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6E6E77"/>
                </a:solidFill>
                <a:latin typeface="Malgun Gothic"/>
              </a:rPr>
              <a:t>하루뿐 → 더 지켜봄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35808" y="4919472"/>
            <a:ext cx="2423160" cy="493776"/>
          </a:xfrm>
          <a:prstGeom prst="roundRect">
            <a:avLst>
              <a:gd name="adj" fmla="val 16666"/>
            </a:avLst>
          </a:prstGeom>
          <a:solidFill>
            <a:srgbClr val="D64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35808" y="4919472"/>
            <a:ext cx="2423160" cy="49377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FFFFFF"/>
                </a:solidFill>
                <a:latin typeface="Malgun Gothic"/>
              </a:rPr>
              <a:t>사흘 연속 → 알림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82127" y="1783080"/>
            <a:ext cx="36576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82127" y="1993392"/>
            <a:ext cx="3657600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1">
                <a:solidFill>
                  <a:srgbClr val="3660FA"/>
                </a:solidFill>
                <a:latin typeface="Malgun Gothic"/>
              </a:rPr>
              <a:t>왜 분류기가 아닌가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7" y="2414016"/>
            <a:ext cx="3657600" cy="265176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60615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분류기는 “모른다”고 말할 수 없다.</a:t>
            </a:r>
          </a:p>
          <a:p>
            <a:pPr algn="l">
              <a:lnSpc>
                <a:spcPct val="160615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배운 것 중에 반드시 하나를</a:t>
            </a:r>
          </a:p>
          <a:p>
            <a:pPr algn="l">
              <a:lnSpc>
                <a:spcPct val="160615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골라야 하기 때문이다.</a:t>
            </a:r>
          </a:p>
          <a:p>
            <a:pPr algn="l">
              <a:lnSpc>
                <a:spcPct val="160615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/>
            </a:r>
          </a:p>
          <a:p>
            <a:pPr algn="l">
              <a:lnSpc>
                <a:spcPct val="160615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그런데 진짜 몸에 이상이 생기면</a:t>
            </a:r>
          </a:p>
          <a:p>
            <a:pPr algn="l">
              <a:lnSpc>
                <a:spcPct val="160615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그건 우리가 가르쳐준 적 없는</a:t>
            </a:r>
          </a:p>
          <a:p>
            <a:pPr algn="l">
              <a:lnSpc>
                <a:spcPct val="160615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상황이다.</a:t>
            </a:r>
          </a:p>
          <a:p>
            <a:pPr algn="l">
              <a:lnSpc>
                <a:spcPct val="160615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/>
            </a:r>
          </a:p>
          <a:p>
            <a:pPr algn="l">
              <a:lnSpc>
                <a:spcPct val="160615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모른다고 답하는 게</a:t>
            </a:r>
          </a:p>
          <a:p>
            <a:pPr algn="l">
              <a:lnSpc>
                <a:spcPct val="160615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정답인 상황이다.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76072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893307"/>
            <a:ext cx="10424160" cy="329184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D6412A"/>
                </a:solidFill>
                <a:latin typeface="Malgun Gothic"/>
              </a:rPr>
              <a:t>우리가 만드는 건 감염 탐지기가 아니라 설명 필터다.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3660FA"/>
                </a:solidFill>
                <a:latin typeface="Malgun Gothic"/>
              </a:rPr>
              <a:t>신규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1">
                <a:solidFill>
                  <a:srgbClr val="1A1A1E"/>
                </a:solidFill>
                <a:latin typeface="Malgun Gothic"/>
              </a:rPr>
              <a:t>공개 데이터 세 개로 직접 돌렸다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6E6E77"/>
                </a:solidFill>
                <a:latin typeface="Malgun Gothic"/>
              </a:rPr>
              <a:t>각 데이터가 앞 데이터에서 생긴 질문에 답한다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446520" cy="877824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11095"/>
            <a:ext cx="3017520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1">
                <a:solidFill>
                  <a:srgbClr val="3660FA"/>
                </a:solidFill>
                <a:latin typeface="Malgun Gothic"/>
              </a:rPr>
              <a:t>Hongn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58568"/>
            <a:ext cx="301752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6E6E77"/>
                </a:solidFill>
                <a:latin typeface="Malgun Gothic"/>
              </a:rPr>
              <a:t>실험실 · 34명 · 1,251 윈도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1783080"/>
            <a:ext cx="3291840" cy="8778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A1A1E"/>
                </a:solidFill>
                <a:latin typeface="Malgun Gothic"/>
              </a:rPr>
              <a:t>오분류의 84.6%가 휴식↔스트레스였다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52344"/>
            <a:ext cx="6035040" cy="38404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3660FA"/>
                </a:solidFill>
                <a:latin typeface="Malgun Gothic"/>
              </a:rPr>
              <a:t>↓   질문을 다시 잡음 —  “평소와 다른가?”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209544"/>
            <a:ext cx="6446520" cy="877824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337560"/>
            <a:ext cx="3017520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1">
                <a:solidFill>
                  <a:srgbClr val="3660FA"/>
                </a:solidFill>
                <a:latin typeface="Malgun Gothic"/>
              </a:rPr>
              <a:t>Nurse Stress 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685031"/>
            <a:ext cx="301752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6E6E77"/>
                </a:solidFill>
                <a:latin typeface="Malgun Gothic"/>
              </a:rPr>
              <a:t>실제 병원 · 15명 · 1,241시간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3209544"/>
            <a:ext cx="3291840" cy="8778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A1A1E"/>
                </a:solidFill>
                <a:latin typeface="Malgun Gothic"/>
              </a:rPr>
              <a:t>피부전도는 통하고 HRV는 안 통한다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178808"/>
            <a:ext cx="6035040" cy="38404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3660FA"/>
                </a:solidFill>
                <a:latin typeface="Malgun Gothic"/>
              </a:rPr>
              <a:t>↓   생리적 사실인가, 손목의 한계인가?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636008"/>
            <a:ext cx="6446520" cy="877824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764024"/>
            <a:ext cx="3017520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1">
                <a:solidFill>
                  <a:srgbClr val="D6412A"/>
                </a:solidFill>
                <a:latin typeface="Malgun Gothic"/>
              </a:rPr>
              <a:t>WESAD 2018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111496"/>
            <a:ext cx="301752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6E6E77"/>
                </a:solidFill>
                <a:latin typeface="Malgun Gothic"/>
              </a:rPr>
              <a:t>가슴 ECG + 손목 동시 · 15명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7" y="4636008"/>
            <a:ext cx="3291840" cy="8778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A1A1E"/>
                </a:solidFill>
                <a:latin typeface="Malgun Gothic"/>
              </a:rPr>
              <a:t>손목의 한계다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24927" y="1783080"/>
            <a:ext cx="411480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7" y="1993392"/>
            <a:ext cx="4114800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1">
                <a:solidFill>
                  <a:srgbClr val="3660FA"/>
                </a:solidFill>
                <a:latin typeface="Malgun Gothic"/>
              </a:rPr>
              <a:t>규모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34656" y="2395728"/>
            <a:ext cx="3895344" cy="420624"/>
          </a:xfrm>
          <a:prstGeom prst="roundRect">
            <a:avLst>
              <a:gd name="adj" fmla="val 21739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2" y="2395728"/>
            <a:ext cx="1142296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데이터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1000" y="2395728"/>
            <a:ext cx="942535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피험자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59568" y="2395728"/>
            <a:ext cx="1042416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윈도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62672" y="2816352"/>
            <a:ext cx="3639311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62672" y="2816352"/>
            <a:ext cx="1142296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Hongn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1000" y="2816352"/>
            <a:ext cx="942535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59568" y="2816352"/>
            <a:ext cx="1042416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1,251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62672" y="3273552"/>
            <a:ext cx="3639311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62672" y="3273552"/>
            <a:ext cx="1142296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Nurse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61000" y="3273552"/>
            <a:ext cx="942535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59568" y="3273552"/>
            <a:ext cx="1042416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148,929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62672" y="3730752"/>
            <a:ext cx="3639311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62672" y="3730752"/>
            <a:ext cx="1142296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WESAD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000" y="3730752"/>
            <a:ext cx="942535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9568" y="3730752"/>
            <a:ext cx="1042416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877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4927" y="4160520"/>
            <a:ext cx="4114800" cy="100584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75304"/>
              </a:lnSpc>
            </a:pPr>
            <a:r>
              <a:rPr sz="1150" b="0">
                <a:solidFill>
                  <a:srgbClr val="6E6E77"/>
                </a:solidFill>
                <a:latin typeface="Malgun Gothic"/>
              </a:rPr>
              <a:t>윈도는 셋 다 60초 길이 · 30초 이동.</a:t>
            </a:r>
          </a:p>
          <a:p>
            <a:pPr algn="l">
              <a:lnSpc>
                <a:spcPct val="175304"/>
              </a:lnSpc>
            </a:pPr>
            <a:r>
              <a:rPr sz="1150" b="0">
                <a:solidFill>
                  <a:srgbClr val="6E6E77"/>
                </a:solidFill>
                <a:latin typeface="Malgun Gothic"/>
              </a:rPr>
              <a:t>Nurse 의 라벨 없는 92%는 개인 기준선</a:t>
            </a:r>
          </a:p>
          <a:p>
            <a:pPr algn="l">
              <a:lnSpc>
                <a:spcPct val="175304"/>
              </a:lnSpc>
            </a:pPr>
            <a:r>
              <a:rPr sz="1150" b="0">
                <a:solidFill>
                  <a:srgbClr val="6E6E77"/>
                </a:solidFill>
                <a:latin typeface="Malgun Gothic"/>
              </a:rPr>
              <a:t>계산에만 쓰고 평가에서 뺐다.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76072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E8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5893307"/>
            <a:ext cx="10424160" cy="329184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3660FA"/>
                </a:solidFill>
                <a:latin typeface="Malgun Gothic"/>
              </a:rPr>
              <a:t>데이터를 늘린 게 아니라, 앞 결과가 만든 질문을 따라간 것이다.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3660FA"/>
                </a:solidFill>
                <a:latin typeface="Malgun Gothic"/>
              </a:rPr>
              <a:t>신규 · A순위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1">
                <a:solidFill>
                  <a:srgbClr val="1A1A1E"/>
                </a:solidFill>
                <a:latin typeface="Malgun Gothic"/>
              </a:rPr>
              <a:t>논문 수치를 그대로 쓸 수 없다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6E6E77"/>
                </a:solidFill>
                <a:latin typeface="Malgun Gothic"/>
              </a:rPr>
              <a:t>같은 모델 · 같은 특징 · 분할 방식만 바꿨다  (Macro F1)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675120" cy="2706624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6675120" cy="420624"/>
          </a:xfrm>
          <a:prstGeom prst="roundRect">
            <a:avLst>
              <a:gd name="adj" fmla="val 21739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83080"/>
            <a:ext cx="2302764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과제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5180" y="1783080"/>
            <a:ext cx="1190244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무작위 분할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783080"/>
            <a:ext cx="1190244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피험자 분리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7732" y="1783080"/>
            <a:ext cx="967740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차이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203704"/>
            <a:ext cx="6419088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203704"/>
            <a:ext cx="2302764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휴식 / 스트레스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5180" y="2203704"/>
            <a:ext cx="1190244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0.896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6" y="2203704"/>
            <a:ext cx="1190244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0.761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7732" y="2203704"/>
            <a:ext cx="967740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-0.136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2660904"/>
            <a:ext cx="6419088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660904"/>
            <a:ext cx="2302764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유산소 / 스프린트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5180" y="2660904"/>
            <a:ext cx="1190244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0.980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6" y="2660904"/>
            <a:ext cx="1190244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0.980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7732" y="2660904"/>
            <a:ext cx="967740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-0.000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3118104"/>
            <a:ext cx="6419088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118104"/>
            <a:ext cx="2302764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3분류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5180" y="3118104"/>
            <a:ext cx="1190244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0.923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91456" y="3118104"/>
            <a:ext cx="1190244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0.809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7732" y="3118104"/>
            <a:ext cx="967740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-0.113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3575304"/>
            <a:ext cx="6419088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3575304"/>
            <a:ext cx="2302764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4분류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5180" y="3575304"/>
            <a:ext cx="1190244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0.916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1456" y="3575304"/>
            <a:ext cx="1190244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0.819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7732" y="3575304"/>
            <a:ext cx="967740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-0.097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" y="4059936"/>
            <a:ext cx="6583680" cy="402336"/>
          </a:xfrm>
          <a:prstGeom prst="roundRect">
            <a:avLst>
              <a:gd name="adj" fmla="val 13636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4032504"/>
            <a:ext cx="2302764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네 과제 평균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45180" y="4032504"/>
            <a:ext cx="1190244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D6412A"/>
                </a:solidFill>
                <a:latin typeface="Malgun Gothic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91456" y="4032504"/>
            <a:ext cx="1190244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D6412A"/>
                </a:solidFill>
                <a:latin typeface="Malgun Gothic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7732" y="4032504"/>
            <a:ext cx="967740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D6412A"/>
                </a:solidFill>
                <a:latin typeface="Malgun Gothic"/>
              </a:rPr>
              <a:t>-0.09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07808" y="1783080"/>
            <a:ext cx="3931920" cy="3840480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7808" y="1956816"/>
            <a:ext cx="3931920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1">
                <a:solidFill>
                  <a:srgbClr val="3660FA"/>
                </a:solidFill>
                <a:latin typeface="Malgun Gothic"/>
              </a:rPr>
              <a:t>이 표에서 볼 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07808" y="2340864"/>
            <a:ext cx="3931920" cy="310896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6416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떨어지지 않은 건 유산소/스프린트</a:t>
            </a:r>
          </a:p>
          <a:p>
            <a:pPr algn="l">
              <a:lnSpc>
                <a:spcPct val="16416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하나뿐이다.</a:t>
            </a:r>
          </a:p>
          <a:p>
            <a:pPr algn="l">
              <a:lnSpc>
                <a:spcPct val="16416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/>
            </a:r>
          </a:p>
          <a:p>
            <a:pPr algn="l">
              <a:lnSpc>
                <a:spcPct val="16416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움직임의 세기는 남이 봐도 그대로</a:t>
            </a:r>
          </a:p>
          <a:p>
            <a:pPr algn="l">
              <a:lnSpc>
                <a:spcPct val="16416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읽히기 때문이다.</a:t>
            </a:r>
          </a:p>
          <a:p>
            <a:pPr algn="l">
              <a:lnSpc>
                <a:spcPct val="16416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/>
            </a:r>
          </a:p>
          <a:p>
            <a:pPr algn="l">
              <a:lnSpc>
                <a:spcPct val="16416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반대로 사람 안쪽 상태를 묻는</a:t>
            </a:r>
          </a:p>
          <a:p>
            <a:pPr algn="l">
              <a:lnSpc>
                <a:spcPct val="16416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과제일수록 많이 떨어진다.</a:t>
            </a:r>
          </a:p>
          <a:p>
            <a:pPr algn="l">
              <a:lnSpc>
                <a:spcPct val="16416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/>
            </a:r>
          </a:p>
          <a:p>
            <a:pPr algn="l">
              <a:lnSpc>
                <a:spcPct val="16416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LOSO 도 0.832 로 피험자 분리와</a:t>
            </a:r>
          </a:p>
          <a:p>
            <a:pPr algn="l">
              <a:lnSpc>
                <a:spcPct val="16416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같은 수준 → 무작위 분할만</a:t>
            </a:r>
          </a:p>
          <a:p>
            <a:pPr algn="l">
              <a:lnSpc>
                <a:spcPct val="16416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유독 높다. 누수가 맞다.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76072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893307"/>
            <a:ext cx="10424160" cy="329184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D6412A"/>
                </a:solidFill>
                <a:latin typeface="Malgun Gothic"/>
              </a:rPr>
              <a:t>같은 사람이 학습과 평가에 같이 들어가면 성적이 부풀려진다.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" y="6419088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50" b="0">
                <a:solidFill>
                  <a:srgbClr val="6E6E77"/>
                </a:solidFill>
                <a:latin typeface="Malgun Gothic"/>
              </a:rPr>
              <a:t>outputs/tables/baseline_summary.csv · split_comparison.csv  ·  XGBoost · Hongn 1,251윈도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3660FA"/>
                </a:solidFill>
                <a:latin typeface="Malgun Gothic"/>
              </a:rPr>
              <a:t>신규 · A순위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1">
                <a:solidFill>
                  <a:srgbClr val="1A1A1E"/>
                </a:solidFill>
                <a:latin typeface="Malgun Gothic"/>
              </a:rPr>
              <a:t>우리가 잡았던 질문이 틀렸다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6E6E77"/>
                </a:solidFill>
                <a:latin typeface="Malgun Gothic"/>
              </a:rPr>
              <a:t>3분류 · 피험자 분리에서 나온 오답 253건 전수 분류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6400800" cy="1956816"/>
          </a:xfrm>
          <a:prstGeom prst="roundRect">
            <a:avLst>
              <a:gd name="adj" fmla="val 46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6400800" cy="420624"/>
          </a:xfrm>
          <a:prstGeom prst="roundRect">
            <a:avLst>
              <a:gd name="adj" fmla="val 21739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83080"/>
            <a:ext cx="2560320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어디서 틀렸나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2736" y="1783080"/>
            <a:ext cx="1920239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건수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8" y="1783080"/>
            <a:ext cx="1152144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비중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2231136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203704"/>
            <a:ext cx="2560320" cy="51206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1">
                <a:solidFill>
                  <a:srgbClr val="1A1A1E"/>
                </a:solidFill>
                <a:latin typeface="Malgun Gothic"/>
              </a:rPr>
              <a:t>휴식 ↔ 스트레스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2203704"/>
            <a:ext cx="1920239" cy="51206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50" b="1">
                <a:solidFill>
                  <a:srgbClr val="D6412A"/>
                </a:solidFill>
                <a:latin typeface="Malgun Gothic"/>
              </a:rPr>
              <a:t>107 + 107 = 214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9008" y="2203704"/>
            <a:ext cx="1152144" cy="51206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50" b="1">
                <a:solidFill>
                  <a:srgbClr val="D6412A"/>
                </a:solidFill>
                <a:latin typeface="Malgun Gothic"/>
              </a:rPr>
              <a:t>84.6%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" y="2715768"/>
            <a:ext cx="6144768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715768"/>
            <a:ext cx="2560320" cy="51206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1A1A1E"/>
                </a:solidFill>
                <a:latin typeface="Malgun Gothic"/>
              </a:rPr>
              <a:t>스트레스 ↔ 운동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715768"/>
            <a:ext cx="1920239" cy="51206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50" b="0">
                <a:solidFill>
                  <a:srgbClr val="1A1A1E"/>
                </a:solidFill>
                <a:latin typeface="Malgun Gothic"/>
              </a:rPr>
              <a:t>18 + 6 = 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8" y="2715768"/>
            <a:ext cx="1152144" cy="51206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50" b="0">
                <a:solidFill>
                  <a:srgbClr val="1A1A1E"/>
                </a:solidFill>
                <a:latin typeface="Malgun Gothic"/>
              </a:rPr>
              <a:t>9.5%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" y="3227832"/>
            <a:ext cx="6144768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3227832"/>
            <a:ext cx="2560320" cy="51206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1A1A1E"/>
                </a:solidFill>
                <a:latin typeface="Malgun Gothic"/>
              </a:rPr>
              <a:t>휴식 ↔ 운동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3227832"/>
            <a:ext cx="1920239" cy="51206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50" b="0">
                <a:solidFill>
                  <a:srgbClr val="1A1A1E"/>
                </a:solidFill>
                <a:latin typeface="Malgun Gothic"/>
              </a:rPr>
              <a:t>11 + 4 =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9008" y="3227832"/>
            <a:ext cx="1152144" cy="51206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50" b="0">
                <a:solidFill>
                  <a:srgbClr val="1A1A1E"/>
                </a:solidFill>
                <a:latin typeface="Malgun Gothic"/>
              </a:rPr>
              <a:t>5.9%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959352"/>
            <a:ext cx="3108960" cy="1693799"/>
          </a:xfrm>
          <a:prstGeom prst="roundRect">
            <a:avLst>
              <a:gd name="adj" fmla="val 53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142232"/>
            <a:ext cx="3108960" cy="72136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4000" b="1">
                <a:solidFill>
                  <a:srgbClr val="D6412A"/>
                </a:solidFill>
                <a:latin typeface="Malgun Gothic"/>
              </a:rPr>
              <a:t>9.5%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918456"/>
            <a:ext cx="3108960" cy="23444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우리가 겨냥했던 문제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226050"/>
            <a:ext cx="3108960" cy="189357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50" b="0">
                <a:solidFill>
                  <a:srgbClr val="6E6E77"/>
                </a:solidFill>
                <a:latin typeface="Malgun Gothic"/>
              </a:rPr>
              <a:t>스트레스 ↔ 운동 혼동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50208" y="3959352"/>
            <a:ext cx="3108960" cy="1693799"/>
          </a:xfrm>
          <a:prstGeom prst="roundRect">
            <a:avLst>
              <a:gd name="adj" fmla="val 53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50208" y="4142232"/>
            <a:ext cx="3108960" cy="72136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4000" b="1">
                <a:solidFill>
                  <a:srgbClr val="3660FA"/>
                </a:solidFill>
                <a:latin typeface="Malgun Gothic"/>
              </a:rPr>
              <a:t>84.6%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0208" y="4918456"/>
            <a:ext cx="3108960" cy="23444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실제로 어려운 문제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50208" y="5226050"/>
            <a:ext cx="3108960" cy="189357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50" b="0">
                <a:solidFill>
                  <a:srgbClr val="6E6E77"/>
                </a:solidFill>
                <a:latin typeface="Malgun Gothic"/>
              </a:rPr>
              <a:t>휴식 ↔ 스트레스 혼동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33488" y="1783080"/>
            <a:ext cx="4206240" cy="3474720"/>
          </a:xfrm>
          <a:prstGeom prst="roundRect">
            <a:avLst>
              <a:gd name="adj" fmla="val 263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33488" y="1975104"/>
            <a:ext cx="4206240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1">
                <a:solidFill>
                  <a:srgbClr val="3660FA"/>
                </a:solidFill>
                <a:latin typeface="Malgun Gothic"/>
              </a:rPr>
              <a:t>그래서 어떻게 되나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3488" y="2377440"/>
            <a:ext cx="4206240" cy="274320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6416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운동은 가속도만 넣으면 갈린다.</a:t>
            </a:r>
          </a:p>
          <a:p>
            <a:pPr algn="l">
              <a:lnSpc>
                <a:spcPct val="16416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(다음 장)</a:t>
            </a:r>
          </a:p>
          <a:p>
            <a:pPr algn="l">
              <a:lnSpc>
                <a:spcPct val="16416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/>
            </a:r>
          </a:p>
          <a:p>
            <a:pPr algn="l">
              <a:lnSpc>
                <a:spcPct val="16416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진짜 어려운 건 가만히 있을 때</a:t>
            </a:r>
          </a:p>
          <a:p>
            <a:pPr algn="l">
              <a:lnSpc>
                <a:spcPct val="16416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편안한지 긴장했는지 구별하는</a:t>
            </a:r>
          </a:p>
          <a:p>
            <a:pPr algn="l">
              <a:lnSpc>
                <a:spcPct val="16416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것이다.</a:t>
            </a:r>
          </a:p>
          <a:p>
            <a:pPr algn="l">
              <a:lnSpc>
                <a:spcPct val="16416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/>
            </a:r>
          </a:p>
          <a:p>
            <a:pPr algn="l">
              <a:lnSpc>
                <a:spcPct val="16416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그건 “이 사람 평소와 다른가”와</a:t>
            </a:r>
          </a:p>
          <a:p>
            <a:pPr algn="l">
              <a:lnSpc>
                <a:spcPct val="16416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같은 질문이다.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76072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893307"/>
            <a:ext cx="10424160" cy="329184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D6412A"/>
                </a:solidFill>
                <a:latin typeface="Malgun Gothic"/>
              </a:rPr>
              <a:t>오류를 세어보고 나서 문제를 다시 정의했다.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" y="6419088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50" b="0">
                <a:solidFill>
                  <a:srgbClr val="6E6E77"/>
                </a:solidFill>
                <a:latin typeface="Malgun Gothic"/>
              </a:rPr>
              <a:t>outputs/tables/errors_baseline.csv  ·  오답 253건 전수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3660FA"/>
                </a:solidFill>
                <a:latin typeface="Malgun Gothic"/>
              </a:rPr>
              <a:t>기존 14장 · 수치 통일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1">
                <a:solidFill>
                  <a:srgbClr val="1A1A1E"/>
                </a:solidFill>
                <a:latin typeface="Malgun Gothic"/>
              </a:rPr>
              <a:t>움직임을 넣으면 운동 혼동은 사라진다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6E6E77"/>
                </a:solidFill>
                <a:latin typeface="Malgun Gothic"/>
              </a:rPr>
              <a:t>3분류 · 피험자 분리 · 특징만 늘렸다  (Hongn 1,251윈도)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10512"/>
            <a:ext cx="10881360" cy="2249424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10881360" cy="420624"/>
          </a:xfrm>
          <a:prstGeom prst="roundRect">
            <a:avLst>
              <a:gd name="adj" fmla="val 21739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810512"/>
            <a:ext cx="3276877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특징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9293" y="1810512"/>
            <a:ext cx="1015815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개수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91140" y="1810512"/>
            <a:ext cx="1581080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Macro 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8253" y="1810512"/>
            <a:ext cx="1863713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스트레스→운동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47998" y="1810512"/>
            <a:ext cx="1863713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운동→스트레스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2231136"/>
            <a:ext cx="10625328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231136"/>
            <a:ext cx="3276877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HR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9293" y="2231136"/>
            <a:ext cx="1015815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1140" y="2231136"/>
            <a:ext cx="1581080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0.562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8253" y="2231136"/>
            <a:ext cx="1863713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0.141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47998" y="2231136"/>
            <a:ext cx="1863713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0.275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" y="2688336"/>
            <a:ext cx="10625328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2688336"/>
            <a:ext cx="3276877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HR+HRV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9293" y="2688336"/>
            <a:ext cx="1015815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1140" y="2688336"/>
            <a:ext cx="1581080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0.704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8253" y="2688336"/>
            <a:ext cx="1863713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0.098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7998" y="2688336"/>
            <a:ext cx="1863713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0.139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3145536"/>
            <a:ext cx="10625328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3145536"/>
            <a:ext cx="3276877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HR+HRV+EDA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9293" y="3145536"/>
            <a:ext cx="1015815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1140" y="3145536"/>
            <a:ext cx="1581080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0.734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8253" y="3145536"/>
            <a:ext cx="1863713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0.121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7998" y="3145536"/>
            <a:ext cx="1863713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0.150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" y="3630168"/>
            <a:ext cx="10789920" cy="402336"/>
          </a:xfrm>
          <a:prstGeom prst="roundRect">
            <a:avLst>
              <a:gd name="adj" fmla="val 13636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3602736"/>
            <a:ext cx="3276877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HR+HRV+EDA+ACC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9293" y="3602736"/>
            <a:ext cx="1015815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D6412A"/>
                </a:solidFill>
                <a:latin typeface="Malgun Gothic"/>
              </a:rPr>
              <a:t>51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91140" y="3602736"/>
            <a:ext cx="1581080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D6412A"/>
                </a:solidFill>
                <a:latin typeface="Malgun Gothic"/>
              </a:rPr>
              <a:t>0.809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8253" y="3602736"/>
            <a:ext cx="1863713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D6412A"/>
                </a:solidFill>
                <a:latin typeface="Malgun Gothic"/>
              </a:rPr>
              <a:t>0.045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47998" y="3602736"/>
            <a:ext cx="1863713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D6412A"/>
                </a:solidFill>
                <a:latin typeface="Malgun Gothic"/>
              </a:rPr>
              <a:t>0.021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16052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352544"/>
            <a:ext cx="5303520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1">
                <a:solidFill>
                  <a:srgbClr val="3660FA"/>
                </a:solidFill>
                <a:latin typeface="Malgun Gothic"/>
              </a:rPr>
              <a:t>가속도를 넣는 순간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4718304"/>
            <a:ext cx="5303520" cy="38404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운동 혼동 0.15 → 0.02 · 34명 짝지어 비교 p = 0.0023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36208" y="416052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36208" y="4352544"/>
            <a:ext cx="5303520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1">
                <a:solidFill>
                  <a:srgbClr val="D6412A"/>
                </a:solidFill>
                <a:latin typeface="Malgun Gothic"/>
              </a:rPr>
              <a:t>그런데 이건 나쁜 소식이다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4718304"/>
            <a:ext cx="5303520" cy="38404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남은 84.6%는 가속도로 안 갈린다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76072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5893307"/>
            <a:ext cx="10424160" cy="329184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D6412A"/>
                </a:solidFill>
                <a:latin typeface="Malgun Gothic"/>
              </a:rPr>
              <a:t>그래서 질문을 “이 사람 평소와 다른가”로 옮겼다.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6419088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50" b="0">
                <a:solidFill>
                  <a:srgbClr val="6E6E77"/>
                </a:solidFill>
                <a:latin typeface="Malgun Gothic"/>
              </a:rPr>
              <a:t>outputs/tables/ablation.csv · significance.csv  ·  Wilcoxon 부호순위, 중앙값 +0.047, 34명 중 23명 향상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3660FA"/>
                </a:solidFill>
                <a:latin typeface="Malgun Gothic"/>
              </a:rPr>
              <a:t>신규 · B순위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1">
                <a:solidFill>
                  <a:srgbClr val="1A1A1E"/>
                </a:solidFill>
                <a:latin typeface="Malgun Gothic"/>
              </a:rPr>
              <a:t>개인 기준선은 “무엇을 평소로 볼 것인가”의 문제였다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6E6E77"/>
                </a:solidFill>
                <a:latin typeface="Malgun Gothic"/>
              </a:rPr>
              <a:t>같은 이탈 점수, 기준선만 바꿨다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55648"/>
            <a:ext cx="5394960" cy="29260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1">
                <a:solidFill>
                  <a:srgbClr val="3660FA"/>
                </a:solidFill>
                <a:latin typeface="Malgun Gothic"/>
              </a:rPr>
              <a:t>기준선 선택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394960" cy="1792224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103120"/>
            <a:ext cx="5394960" cy="420624"/>
          </a:xfrm>
          <a:prstGeom prst="roundRect">
            <a:avLst>
              <a:gd name="adj" fmla="val 21739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03120"/>
            <a:ext cx="2225649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기준선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8065" y="2103120"/>
            <a:ext cx="1146657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통합 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0755" y="2103120"/>
            <a:ext cx="1254556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피험자 평균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" y="2551175"/>
            <a:ext cx="5303520" cy="402336"/>
          </a:xfrm>
          <a:prstGeom prst="roundRect">
            <a:avLst>
              <a:gd name="adj" fmla="val 13636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523744"/>
            <a:ext cx="2225649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A1A1E"/>
                </a:solidFill>
                <a:latin typeface="Malgun Gothic"/>
              </a:rPr>
              <a:t>라벨된 휴식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8065" y="2523744"/>
            <a:ext cx="1146657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0.770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0755" y="2523744"/>
            <a:ext cx="1254556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0.789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" y="2980944"/>
            <a:ext cx="5138928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980944"/>
            <a:ext cx="2225649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저활동 구간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8065" y="2980944"/>
            <a:ext cx="1146657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0.648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0755" y="2980944"/>
            <a:ext cx="1254556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0.619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" y="3465575"/>
            <a:ext cx="5303520" cy="402336"/>
          </a:xfrm>
          <a:prstGeom prst="roundRect">
            <a:avLst>
              <a:gd name="adj" fmla="val 13636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438144"/>
            <a:ext cx="2225649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A1A1E"/>
                </a:solidFill>
                <a:latin typeface="Malgun Gothic"/>
              </a:rPr>
              <a:t>세션 앞부분(시간)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68065" y="3438144"/>
            <a:ext cx="1146657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0.477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0755" y="3438144"/>
            <a:ext cx="1254556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0.462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023359"/>
            <a:ext cx="5394960" cy="7315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67040"/>
              </a:lnSpc>
            </a:pPr>
            <a:r>
              <a:rPr sz="1250" b="0">
                <a:solidFill>
                  <a:srgbClr val="6E6E77"/>
                </a:solidFill>
                <a:latin typeface="Malgun Gothic"/>
              </a:rPr>
              <a:t>시간 기준선은 0.5 아래다.</a:t>
            </a:r>
          </a:p>
          <a:p>
            <a:pPr algn="l">
              <a:lnSpc>
                <a:spcPct val="167040"/>
              </a:lnSpc>
            </a:pPr>
            <a:r>
              <a:rPr sz="1250" b="0">
                <a:solidFill>
                  <a:srgbClr val="6E6E77"/>
                </a:solidFill>
                <a:latin typeface="Malgun Gothic"/>
              </a:rPr>
              <a:t>“세션 시작 = 평온”이 아니라는 뜻이다.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1755648"/>
            <a:ext cx="5285232" cy="29260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1">
                <a:solidFill>
                  <a:srgbClr val="3660FA"/>
                </a:solidFill>
                <a:latin typeface="Malgun Gothic"/>
              </a:rPr>
              <a:t>채널 조합  (10가지 중 발췌)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2103120"/>
            <a:ext cx="5285232" cy="2249424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36208" y="2103120"/>
            <a:ext cx="5285232" cy="420624"/>
          </a:xfrm>
          <a:prstGeom prst="roundRect">
            <a:avLst>
              <a:gd name="adj" fmla="val 21739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2103120"/>
            <a:ext cx="2386584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조합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103120"/>
            <a:ext cx="1065276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실험실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28148" y="2103120"/>
            <a:ext cx="1065276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실환경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2551175"/>
            <a:ext cx="5193792" cy="402336"/>
          </a:xfrm>
          <a:prstGeom prst="roundRect">
            <a:avLst>
              <a:gd name="adj" fmla="val 13636"/>
            </a:avLst>
          </a:prstGeom>
          <a:solidFill>
            <a:srgbClr val="E8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2523744"/>
            <a:ext cx="2386584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A1A1E"/>
                </a:solidFill>
                <a:latin typeface="Malgun Gothic"/>
              </a:rPr>
              <a:t>EDA + HR · signed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2523744"/>
            <a:ext cx="1065276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3660FA"/>
                </a:solidFill>
                <a:latin typeface="Malgun Gothic"/>
              </a:rPr>
              <a:t>0.797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28148" y="2523744"/>
            <a:ext cx="1065276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3660FA"/>
                </a:solidFill>
                <a:latin typeface="Malgun Gothic"/>
              </a:rPr>
              <a:t>0.633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64224" y="2980944"/>
            <a:ext cx="5029200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4224" y="2980944"/>
            <a:ext cx="2386584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4채널 · signed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2980944"/>
            <a:ext cx="1065276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0.778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28148" y="2980944"/>
            <a:ext cx="1065276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0.629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1928" y="3465575"/>
            <a:ext cx="5193792" cy="402336"/>
          </a:xfrm>
          <a:prstGeom prst="roundRect">
            <a:avLst>
              <a:gd name="adj" fmla="val 13636"/>
            </a:avLst>
          </a:prstGeom>
          <a:solidFill>
            <a:srgbClr val="E8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64224" y="3438144"/>
            <a:ext cx="2386584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A1A1E"/>
                </a:solidFill>
                <a:latin typeface="Malgun Gothic"/>
              </a:rPr>
              <a:t>tonic EDA 단독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3438144"/>
            <a:ext cx="1065276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3660FA"/>
                </a:solidFill>
                <a:latin typeface="Malgun Gothic"/>
              </a:rPr>
              <a:t>0.664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28148" y="3438144"/>
            <a:ext cx="1065276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3660FA"/>
                </a:solidFill>
                <a:latin typeface="Malgun Gothic"/>
              </a:rPr>
              <a:t>0.680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64224" y="3895344"/>
            <a:ext cx="5029200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64224" y="3895344"/>
            <a:ext cx="2386584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심박계열만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3895344"/>
            <a:ext cx="1065276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0.686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28148" y="3895344"/>
            <a:ext cx="1065276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0.556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4480559"/>
            <a:ext cx="5285232" cy="7315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A1A1E"/>
                </a:solidFill>
                <a:latin typeface="Malgun Gothic"/>
              </a:rPr>
              <a:t>실험실 1등과 실환경 1등이 다르다.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4846320"/>
            <a:ext cx="10881360" cy="694944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4846320"/>
            <a:ext cx="10881360" cy="69494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1A1A1E"/>
                </a:solidFill>
                <a:latin typeface="Malgun Gothic"/>
              </a:rPr>
              <a:t>Quer 2021 은 개인 기준선을 쓰라고 했지만, 무엇을 기준선으로 잡을지는 알려주지 않는다.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576072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E8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6112" y="5893307"/>
            <a:ext cx="10424160" cy="329184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3660FA"/>
                </a:solidFill>
                <a:latin typeface="Malgun Gothic"/>
              </a:rPr>
              <a:t>실환경에서는 EDA 단독이 가장 낫다 — 조합을 그대로 옮기면 안 된다.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" y="6419088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50" b="0">
                <a:solidFill>
                  <a:srgbClr val="6E6E77"/>
                </a:solidFill>
                <a:latin typeface="Malgun Gothic"/>
              </a:rPr>
              <a:t>outputs/tables/deviation_baselines.csv · deviation_variants.csv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3660FA"/>
                </a:solidFill>
                <a:latin typeface="Malgun Gothic"/>
              </a:rPr>
              <a:t>신규 · B순위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1">
                <a:solidFill>
                  <a:srgbClr val="1A1A1E"/>
                </a:solidFill>
                <a:latin typeface="Malgun Gothic"/>
              </a:rPr>
              <a:t>규칙을 왜 두는가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6E6E77"/>
                </a:solidFill>
                <a:latin typeface="Malgun Gothic"/>
              </a:rPr>
              <a:t>정확도를 올리려고 두는 게 아니다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55648"/>
            <a:ext cx="6400800" cy="29260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1">
                <a:solidFill>
                  <a:srgbClr val="3660FA"/>
                </a:solidFill>
                <a:latin typeface="Malgun Gothic"/>
              </a:rPr>
              <a:t>감사 판정별 오류율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6400800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103120"/>
            <a:ext cx="6400800" cy="420624"/>
          </a:xfrm>
          <a:prstGeom prst="roundRect">
            <a:avLst>
              <a:gd name="adj" fmla="val 21739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03120"/>
            <a:ext cx="2944368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감사 판정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86783" y="2103120"/>
            <a:ext cx="704088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맞음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46903" y="2103120"/>
            <a:ext cx="704088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틀림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7023" y="2103120"/>
            <a:ext cx="1024128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오류율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" y="2551175"/>
            <a:ext cx="6309360" cy="420624"/>
          </a:xfrm>
          <a:prstGeom prst="roundRect">
            <a:avLst>
              <a:gd name="adj" fmla="val 13043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523744"/>
            <a:ext cx="2944368" cy="47548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A1A1E"/>
                </a:solidFill>
                <a:latin typeface="Malgun Gothic"/>
              </a:rPr>
              <a:t>SUPPORTED  근거가 뒷받침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6783" y="2523744"/>
            <a:ext cx="704088" cy="47548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460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6903" y="2523744"/>
            <a:ext cx="704088" cy="47548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7023" y="2523744"/>
            <a:ext cx="1024128" cy="47548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7.8%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" y="3026663"/>
            <a:ext cx="6309360" cy="420624"/>
          </a:xfrm>
          <a:prstGeom prst="roundRect">
            <a:avLst>
              <a:gd name="adj" fmla="val 13043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999232"/>
            <a:ext cx="2944368" cy="47548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A1A1E"/>
                </a:solidFill>
                <a:latin typeface="Malgun Gothic"/>
              </a:rPr>
              <a:t>UNCERTAIN  근거 부족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86783" y="2999232"/>
            <a:ext cx="704088" cy="47548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319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6903" y="2999232"/>
            <a:ext cx="704088" cy="47548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168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7023" y="2999232"/>
            <a:ext cx="1024128" cy="47548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34.5%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" y="3502151"/>
            <a:ext cx="6309360" cy="420624"/>
          </a:xfrm>
          <a:prstGeom prst="roundRect">
            <a:avLst>
              <a:gd name="adj" fmla="val 13043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474720"/>
            <a:ext cx="2944368" cy="47548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A1A1E"/>
                </a:solidFill>
                <a:latin typeface="Malgun Gothic"/>
              </a:rPr>
              <a:t>CONFLICT  근거와 충돌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86783" y="3474720"/>
            <a:ext cx="704088" cy="47548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105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46903" y="3474720"/>
            <a:ext cx="704088" cy="47548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160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07023" y="3474720"/>
            <a:ext cx="1024128" cy="47548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60.4%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096512"/>
            <a:ext cx="6400800" cy="7315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728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오류율이 단조 증가한다. 감사 판정이 실제 신뢰도와 같은 방향이다.</a:t>
            </a:r>
          </a:p>
          <a:p>
            <a:pPr algn="l">
              <a:lnSpc>
                <a:spcPct val="1728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두 판정을 “믿지 말라”로 표시하면 신경망 오류의 89.4%를 잡는다.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24927" y="1755648"/>
            <a:ext cx="4114800" cy="3291840"/>
          </a:xfrm>
          <a:prstGeom prst="roundRect">
            <a:avLst>
              <a:gd name="adj" fmla="val 277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4927" y="1956816"/>
            <a:ext cx="4114800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D6412A"/>
                </a:solidFill>
                <a:latin typeface="Malgun Gothic"/>
              </a:rPr>
              <a:t>그런데 답을 고치는 건 별로다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34656" y="2359152"/>
            <a:ext cx="3895344" cy="420624"/>
          </a:xfrm>
          <a:prstGeom prst="roundRect">
            <a:avLst>
              <a:gd name="adj" fmla="val 21739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2" y="2359152"/>
            <a:ext cx="2375957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방식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94661" y="2359152"/>
            <a:ext cx="1007322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Macro F1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62672" y="2779776"/>
            <a:ext cx="3639311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62672" y="2779776"/>
            <a:ext cx="2375957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신경망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94661" y="2779776"/>
            <a:ext cx="1007322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0.712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62672" y="3236976"/>
            <a:ext cx="3639311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62672" y="3236976"/>
            <a:ext cx="2375957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+ 규칙 교정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94661" y="3236976"/>
            <a:ext cx="1007322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0.738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80376" y="3721608"/>
            <a:ext cx="3803904" cy="402336"/>
          </a:xfrm>
          <a:prstGeom prst="roundRect">
            <a:avLst>
              <a:gd name="adj" fmla="val 13636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62672" y="3694176"/>
            <a:ext cx="2375957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A1A1E"/>
                </a:solidFill>
                <a:latin typeface="Malgun Gothic"/>
              </a:rPr>
              <a:t>+ 가속도를 숫자로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94661" y="3694176"/>
            <a:ext cx="1007322" cy="45720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0.783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4927" y="4297680"/>
            <a:ext cx="4114800" cy="82296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68000"/>
              </a:lnSpc>
            </a:pPr>
            <a:r>
              <a:rPr sz="1200" b="0">
                <a:solidFill>
                  <a:srgbClr val="6E6E77"/>
                </a:solidFill>
                <a:latin typeface="Malgun Gothic"/>
              </a:rPr>
              <a:t>규칙으로 답을 고치느니</a:t>
            </a:r>
          </a:p>
          <a:p>
            <a:pPr algn="l">
              <a:lnSpc>
                <a:spcPct val="168000"/>
              </a:lnSpc>
            </a:pPr>
            <a:r>
              <a:rPr sz="1200" b="0">
                <a:solidFill>
                  <a:srgbClr val="6E6E77"/>
                </a:solidFill>
                <a:latin typeface="Malgun Gothic"/>
              </a:rPr>
              <a:t>가속도를 특징으로 넣는 게 낫다.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76072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893307"/>
            <a:ext cx="10424160" cy="329184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D6412A"/>
                </a:solidFill>
                <a:latin typeface="Malgun Gothic"/>
              </a:rPr>
              <a:t>규칙의 값어치는 “이 판단을 믿을 근거가 있나”에 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6419088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50" b="0">
                <a:solidFill>
                  <a:srgbClr val="6E6E77"/>
                </a:solidFill>
                <a:latin typeface="Malgun Gothic"/>
              </a:rPr>
              <a:t>outputs/tables/audit_breakdown.csv · final_comparison.csv  ·  교정 118건 중 개선 74 / 악화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3660FA"/>
                </a:solidFill>
                <a:latin typeface="Malgun Gothic"/>
              </a:rPr>
              <a:t>신규 · B순위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1">
                <a:solidFill>
                  <a:srgbClr val="1A1A1E"/>
                </a:solidFill>
                <a:latin typeface="Malgun Gothic"/>
              </a:rPr>
              <a:t>배운 적 없는 상황을 만나면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6E6E77"/>
                </a:solidFill>
                <a:latin typeface="Malgun Gothic"/>
              </a:rPr>
              <a:t>운동 규칙을 통째로 지우고, 운동하는 사람 데이터를 넣었다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65836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>
                <a:solidFill>
                  <a:srgbClr val="1A1A1E"/>
                </a:solidFill>
                <a:latin typeface="Malgun Gothic"/>
              </a:rPr>
              <a:t>공정하게 맞췄다 — 비교 대상 분류기도 운동을 한 번도 배우지 않은 것으로 썼다. 운동 구간 287개 중 이탈로 잡힌 80개를 봤다.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70048"/>
            <a:ext cx="5303520" cy="1874519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852928"/>
            <a:ext cx="5303520" cy="90170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5000" b="1">
                <a:solidFill>
                  <a:srgbClr val="D6412A"/>
                </a:solidFill>
                <a:latin typeface="Malgun Gothic"/>
              </a:rPr>
              <a:t>96.2%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809492"/>
            <a:ext cx="5303520" cy="23444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분류기 — “스트레스”라고 단정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117085"/>
            <a:ext cx="5303520" cy="189357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50" b="0">
                <a:solidFill>
                  <a:srgbClr val="6E6E77"/>
                </a:solidFill>
                <a:latin typeface="Malgun Gothic"/>
              </a:rPr>
              <a:t>기권할 수 없어 아는 것 중 하나로 민다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2670048"/>
            <a:ext cx="5303520" cy="1874519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2852928"/>
            <a:ext cx="5303520" cy="90170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5000" b="1">
                <a:solidFill>
                  <a:srgbClr val="3660FA"/>
                </a:solidFill>
                <a:latin typeface="Malgun Gothic"/>
              </a:rPr>
              <a:t>95.0%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3809492"/>
            <a:ext cx="5303520" cy="23444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우리 구조 — “설명 안 됨”으로 보류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117085"/>
            <a:ext cx="5303520" cy="189357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050" b="0">
                <a:solidFill>
                  <a:srgbClr val="6E6E77"/>
                </a:solidFill>
                <a:latin typeface="Malgun Gothic"/>
              </a:rPr>
              <a:t>모른다고 답할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18304"/>
            <a:ext cx="10881360" cy="786384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718304"/>
            <a:ext cx="10881360" cy="78638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분류기는 기권할 수 없다. 그런데 진짜 몸에 이상이 생기면 그건 우리가 가르쳐준 적 없는 상황이다.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650992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E8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783579"/>
            <a:ext cx="10424160" cy="329184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3660FA"/>
                </a:solidFill>
                <a:latin typeface="Malgun Gothic"/>
              </a:rPr>
              <a:t>이게 규칙을 두는 이유 전체다.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6345936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50" b="0">
                <a:solidFill>
                  <a:srgbClr val="6E6E77"/>
                </a:solidFill>
                <a:latin typeface="Malgun Gothic"/>
              </a:rPr>
              <a:t>docs/DEVIATION_RESULTS.md  ·  Exp 1c 맥락 은닉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3660FA"/>
                </a:solidFill>
                <a:latin typeface="Malgun Gothic"/>
              </a:rPr>
              <a:t>신규 · B순위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1">
                <a:solidFill>
                  <a:srgbClr val="1A1A1E"/>
                </a:solidFill>
                <a:latin typeface="Malgun Gothic"/>
              </a:rPr>
              <a:t>실험실에서 만든 것이 실제 병원에서 통하나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6E6E77"/>
                </a:solidFill>
                <a:latin typeface="Malgun Gothic"/>
              </a:rPr>
              <a:t>Nurse Stress · 간호사 15명 · 근무 중 1,241시간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5943600" cy="29260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처음 결과 — 유의한 것이 하나도 없었다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66543"/>
            <a:ext cx="5943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066543"/>
            <a:ext cx="5943600" cy="420624"/>
          </a:xfrm>
          <a:prstGeom prst="roundRect">
            <a:avLst>
              <a:gd name="adj" fmla="val 21739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66543"/>
            <a:ext cx="1069847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2264" y="2066543"/>
            <a:ext cx="1801368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실험실 (Hongn)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9663" y="2066543"/>
            <a:ext cx="2304287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실환경 (Nurse)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" y="2514599"/>
            <a:ext cx="5852160" cy="384048"/>
          </a:xfrm>
          <a:prstGeom prst="roundRect">
            <a:avLst>
              <a:gd name="adj" fmla="val 14285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487168"/>
            <a:ext cx="1069847" cy="438912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1">
                <a:solidFill>
                  <a:srgbClr val="1A1A1E"/>
                </a:solidFill>
                <a:latin typeface="Malgun Gothic"/>
              </a:rPr>
              <a:t>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12264" y="2487168"/>
            <a:ext cx="1801368" cy="438912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150" b="1">
                <a:solidFill>
                  <a:srgbClr val="D6412A"/>
                </a:solidFill>
                <a:latin typeface="Malgun Gothic"/>
              </a:rPr>
              <a:t>+7.7 bpm · 30/34명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9663" y="2487168"/>
            <a:ext cx="2304287" cy="438912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150" b="1">
                <a:solidFill>
                  <a:srgbClr val="D6412A"/>
                </a:solidFill>
                <a:latin typeface="Malgun Gothic"/>
              </a:rPr>
              <a:t>-3.3 bpm · 6/13명 · p=0.24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" y="2926079"/>
            <a:ext cx="5687568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926079"/>
            <a:ext cx="1069847" cy="438912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RMSSD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12264" y="2926079"/>
            <a:ext cx="1801368" cy="438912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-6.1 ms · p=0.26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9663" y="2926079"/>
            <a:ext cx="2304287" cy="438912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-2.2 ms · p=0.56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3364991"/>
            <a:ext cx="5687568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364991"/>
            <a:ext cx="1069847" cy="438912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tonic EDA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12264" y="3364991"/>
            <a:ext cx="1801368" cy="438912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상승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9663" y="3364991"/>
            <a:ext cx="2304287" cy="438912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p=1.00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931920"/>
            <a:ext cx="5943600" cy="36576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6E6E77"/>
                </a:solidFill>
                <a:latin typeface="Malgun Gothic"/>
              </a:rPr>
              <a:t>그래서 “이식 실패”라고 먼저 적었다.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1737360"/>
            <a:ext cx="4681728" cy="3246120"/>
          </a:xfrm>
          <a:prstGeom prst="roundRect">
            <a:avLst>
              <a:gd name="adj" fmla="val 2816"/>
            </a:avLst>
          </a:prstGeom>
          <a:solidFill>
            <a:srgbClr val="E8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1901952"/>
            <a:ext cx="4462272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1">
                <a:solidFill>
                  <a:srgbClr val="3660FA"/>
                </a:solidFill>
                <a:latin typeface="Malgun Gothic"/>
              </a:rPr>
              <a:t>그런데 대조군이 잘못됐다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67728" y="2286000"/>
            <a:ext cx="4462272" cy="2005584"/>
          </a:xfrm>
          <a:prstGeom prst="roundRect">
            <a:avLst>
              <a:gd name="adj" fmla="val 45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67728" y="2286000"/>
            <a:ext cx="4462272" cy="579120"/>
          </a:xfrm>
          <a:prstGeom prst="roundRect">
            <a:avLst>
              <a:gd name="adj" fmla="val 15789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95744" y="2286000"/>
            <a:ext cx="2782110" cy="57912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대조군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33886" y="2286000"/>
            <a:ext cx="1168097" cy="57912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유의한 특징</a:t>
            </a:r>
          </a:p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 (5개 중)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95744" y="2865120"/>
            <a:ext cx="4206240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95744" y="2865120"/>
            <a:ext cx="2782110" cy="47548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A. 보고된 평온 (처음 쓴 것)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33886" y="2865120"/>
            <a:ext cx="1168097" cy="47548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150" b="1">
                <a:solidFill>
                  <a:srgbClr val="1A1A1E"/>
                </a:solidFill>
                <a:latin typeface="Malgun Gothic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95744" y="3340608"/>
            <a:ext cx="4206240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95744" y="3340608"/>
            <a:ext cx="2782110" cy="47548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B. 사건에서 30분 이상 떨어진 구간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33886" y="3340608"/>
            <a:ext cx="1168097" cy="47548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13448" y="3843528"/>
            <a:ext cx="4370832" cy="420624"/>
          </a:xfrm>
          <a:prstGeom prst="roundRect">
            <a:avLst>
              <a:gd name="adj" fmla="val 13043"/>
            </a:avLst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95744" y="3816096"/>
            <a:ext cx="2782110" cy="47548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1">
                <a:solidFill>
                  <a:srgbClr val="1A1A1E"/>
                </a:solidFill>
                <a:latin typeface="Malgun Gothic"/>
              </a:rPr>
              <a:t>C. 같은 세션 저활동 하위 25%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33886" y="3816096"/>
            <a:ext cx="1168097" cy="47548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150" b="1">
                <a:solidFill>
                  <a:srgbClr val="1A1A1E"/>
                </a:solidFill>
                <a:latin typeface="Malgun Gothic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4437888"/>
            <a:ext cx="4462272" cy="7315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74000"/>
              </a:lnSpc>
            </a:pPr>
            <a:r>
              <a:rPr sz="1200" b="1">
                <a:solidFill>
                  <a:srgbClr val="1A1A1E"/>
                </a:solidFill>
                <a:latin typeface="Malgun Gothic"/>
              </a:rPr>
              <a:t>대조군을 제대로 잡으면 EDA·SCR 은</a:t>
            </a:r>
          </a:p>
          <a:p>
            <a:pPr algn="l">
              <a:lnSpc>
                <a:spcPct val="174000"/>
              </a:lnSpc>
            </a:pPr>
            <a:r>
              <a:rPr sz="1200" b="1">
                <a:solidFill>
                  <a:srgbClr val="1A1A1E"/>
                </a:solidFill>
                <a:latin typeface="Malgun Gothic"/>
              </a:rPr>
              <a:t>실환경에서도 반응한다.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4133087"/>
            <a:ext cx="5943600" cy="859536"/>
          </a:xfrm>
          <a:prstGeom prst="roundRect">
            <a:avLst>
              <a:gd name="adj" fmla="val 10638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4133087"/>
            <a:ext cx="5943600" cy="85953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74000"/>
              </a:lnSpc>
            </a:pPr>
            <a:r>
              <a:rPr sz="1200" b="0">
                <a:solidFill>
                  <a:srgbClr val="1A1A1E"/>
                </a:solidFill>
                <a:latin typeface="Malgun Gothic"/>
              </a:rPr>
              <a:t>남는 문제 — 활동량 임계 0.020 g 를 실환경에 적용하면</a:t>
            </a:r>
          </a:p>
          <a:p>
            <a:pPr algn="l">
              <a:lnSpc>
                <a:spcPct val="174000"/>
              </a:lnSpc>
            </a:pPr>
            <a:r>
              <a:rPr sz="1200" b="0">
                <a:solidFill>
                  <a:srgbClr val="1A1A1E"/>
                </a:solidFill>
                <a:latin typeface="Malgun Gothic"/>
              </a:rPr>
              <a:t>전체 창의 73.6%가 “활동 중”이 된다. 근무 자체가 움직이는 일이다.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76072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5893307"/>
            <a:ext cx="10424160" cy="329184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D6412A"/>
                </a:solidFill>
                <a:latin typeface="Malgun Gothic"/>
              </a:rPr>
              <a:t>실험실 규칙은 절반만 옮겨간다. 그리고 틀린 결론을 우리가 잡아냈다.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6419088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50" b="0">
                <a:solidFill>
                  <a:srgbClr val="6E6E77"/>
                </a:solidFill>
                <a:latin typeface="Malgun Gothic"/>
              </a:rPr>
              <a:t>outputs/tables/nurse_within_subject.csv · nurse_control_variants.csv · nurse_activity_thresh.csv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3660FA"/>
                </a:solidFill>
                <a:latin typeface="Malgun Gothic"/>
              </a:rPr>
              <a:t>신규 · A순위 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1">
                <a:solidFill>
                  <a:srgbClr val="1A1A1E"/>
                </a:solidFill>
                <a:latin typeface="Malgun Gothic"/>
              </a:rPr>
              <a:t>HRV 는 반응한다. 손목으로 잴 수 없을 뿐이다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6E6E77"/>
                </a:solidFill>
                <a:latin typeface="Malgun Gothic"/>
              </a:rPr>
              <a:t>WESAD · 같은 사람 · 같은 시각 · 가슴 ECG(700 Hz)와 손목 PPG(64 Hz) 동시 기록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10512"/>
            <a:ext cx="10881360" cy="493776"/>
          </a:xfrm>
          <a:prstGeom prst="roundRect">
            <a:avLst>
              <a:gd name="adj" fmla="val 1851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10512"/>
            <a:ext cx="10881360" cy="49377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A1A1E"/>
                </a:solidFill>
                <a:latin typeface="Malgun Gothic"/>
              </a:rPr>
              <a:t>두 신호에 같은 HRV 함수를 적용했다. 차이가 나면 그건 순수하게 신호 품질 차이다.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87168"/>
            <a:ext cx="6675120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487168"/>
            <a:ext cx="6675120" cy="420624"/>
          </a:xfrm>
          <a:prstGeom prst="roundRect">
            <a:avLst>
              <a:gd name="adj" fmla="val 21739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487168"/>
            <a:ext cx="1115568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7984" y="2487168"/>
            <a:ext cx="2395728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가슴 ECG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3" y="2487168"/>
            <a:ext cx="2395728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손목 PPG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" y="2935224"/>
            <a:ext cx="6583680" cy="457200"/>
          </a:xfrm>
          <a:prstGeom prst="roundRect">
            <a:avLst>
              <a:gd name="adj" fmla="val 12000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907792"/>
            <a:ext cx="1115568" cy="51206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A1A1E"/>
                </a:solidFill>
                <a:latin typeface="Malgun Gothic"/>
              </a:rPr>
              <a:t>RMSSD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984" y="2907792"/>
            <a:ext cx="2395728" cy="51206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-13.0 ms (-27%) · 10/15명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3" y="2907792"/>
            <a:ext cx="2395728" cy="51206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+5.0 ms (방향 반대) · 7/15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3419856"/>
            <a:ext cx="6419088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419856"/>
            <a:ext cx="1115568" cy="51206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심박수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57984" y="3419856"/>
            <a:ext cx="2395728" cy="51206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+21.2 bpm · 15/15명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9743" y="3419856"/>
            <a:ext cx="2395728" cy="51206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+24.4 bpm · 15/15명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041648"/>
            <a:ext cx="6675120" cy="566928"/>
          </a:xfrm>
          <a:prstGeom prst="roundRect">
            <a:avLst>
              <a:gd name="adj" fmla="val 14516"/>
            </a:avLst>
          </a:prstGeom>
          <a:solidFill>
            <a:srgbClr val="E8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041648"/>
            <a:ext cx="6675120" cy="56692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3660FA"/>
                </a:solidFill>
                <a:latin typeface="Malgun Gothic"/>
              </a:rPr>
              <a:t>심박수는 손목으로도 전원 일치로 잡힌다 — 신호가 나쁜 게 아니다.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754880"/>
            <a:ext cx="6675120" cy="29260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왜 HRV 만 안 되나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084064"/>
            <a:ext cx="6675120" cy="365760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084064"/>
            <a:ext cx="1664207" cy="36576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지표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6623" y="5084064"/>
            <a:ext cx="1115567" cy="36576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ECG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8223" y="5084064"/>
            <a:ext cx="1755648" cy="36576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PPG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9903" y="5084064"/>
            <a:ext cx="1115567" cy="36576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상관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" y="5449824"/>
            <a:ext cx="6419088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5449824"/>
            <a:ext cx="1664207" cy="40233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평균 박동 간격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06623" y="5449824"/>
            <a:ext cx="1115567" cy="40233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0.8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78223" y="5449824"/>
            <a:ext cx="1755648" cy="40233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0.7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9903" y="5449824"/>
            <a:ext cx="1115567" cy="40233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150" b="1">
                <a:solidFill>
                  <a:srgbClr val="1A1A1E"/>
                </a:solidFill>
                <a:latin typeface="Malgun Gothic"/>
              </a:rPr>
              <a:t>r = 0.903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" y="5852160"/>
            <a:ext cx="6419088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5852160"/>
            <a:ext cx="1664207" cy="40233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RMSSD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06623" y="5852160"/>
            <a:ext cx="1115567" cy="40233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38.0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78223" y="5852160"/>
            <a:ext cx="1755648" cy="40233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150" b="1">
                <a:solidFill>
                  <a:srgbClr val="1A1A1E"/>
                </a:solidFill>
                <a:latin typeface="Malgun Gothic"/>
              </a:rPr>
              <a:t>138.1 (3.6배)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9903" y="5852160"/>
            <a:ext cx="1115567" cy="40233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r = 0.529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07808" y="1810512"/>
            <a:ext cx="3931920" cy="4663440"/>
          </a:xfrm>
          <a:prstGeom prst="roundRect">
            <a:avLst>
              <a:gd name="adj" fmla="val 23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07808" y="2011680"/>
            <a:ext cx="3931920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1">
                <a:solidFill>
                  <a:srgbClr val="3660FA"/>
                </a:solidFill>
                <a:latin typeface="Malgun Gothic"/>
              </a:rPr>
              <a:t>메커니즘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07808" y="2395728"/>
            <a:ext cx="3931920" cy="39319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72174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평균은 맞는데 변이만 3.6배 부풀려진다.</a:t>
            </a:r>
          </a:p>
          <a:p>
            <a:pPr algn="l">
              <a:lnSpc>
                <a:spcPct val="172174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/>
            </a:r>
          </a:p>
          <a:p>
            <a:pPr algn="l">
              <a:lnSpc>
                <a:spcPct val="172174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맥파 정점이 완만해 검출 시각이</a:t>
            </a:r>
          </a:p>
          <a:p>
            <a:pPr algn="l">
              <a:lnSpc>
                <a:spcPct val="172174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밀리초 단위로 흔들린다.</a:t>
            </a:r>
          </a:p>
          <a:p>
            <a:pPr algn="l">
              <a:lnSpc>
                <a:spcPct val="172174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/>
            </a:r>
          </a:p>
          <a:p>
            <a:pPr algn="l">
              <a:lnSpc>
                <a:spcPct val="172174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RMSSD 는 연속한 간격의 차이를 재므로</a:t>
            </a:r>
          </a:p>
          <a:p>
            <a:pPr algn="l">
              <a:lnSpc>
                <a:spcPct val="172174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그 지터가 그대로 들어온다.</a:t>
            </a:r>
          </a:p>
          <a:p>
            <a:pPr algn="l">
              <a:lnSpc>
                <a:spcPct val="172174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/>
            </a:r>
          </a:p>
          <a:p>
            <a:pPr algn="l">
              <a:lnSpc>
                <a:spcPct val="172174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실제 변화(-13 ms)보다 지터가 크면</a:t>
            </a:r>
          </a:p>
          <a:p>
            <a:pPr algn="l">
              <a:lnSpc>
                <a:spcPct val="172174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신호가 묻힌다.</a:t>
            </a:r>
          </a:p>
          <a:p>
            <a:pPr algn="l">
              <a:lnSpc>
                <a:spcPct val="172174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/>
            </a:r>
          </a:p>
          <a:p>
            <a:pPr algn="l">
              <a:lnSpc>
                <a:spcPct val="172174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평균은 지터가 상쇄되어 살아남는다.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35824" y="5632704"/>
            <a:ext cx="3675887" cy="658368"/>
          </a:xfrm>
          <a:prstGeom prst="roundRect">
            <a:avLst>
              <a:gd name="adj" fmla="val 11111"/>
            </a:avLst>
          </a:prstGeom>
          <a:solidFill>
            <a:srgbClr val="E8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35824" y="5632704"/>
            <a:ext cx="3675887" cy="658368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3660FA"/>
                </a:solidFill>
                <a:latin typeface="Malgun Gothic"/>
              </a:rPr>
              <a:t>→ 그래서 HR 은 되고 HRV 는 안 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" y="6565392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50" b="0">
                <a:solidFill>
                  <a:srgbClr val="6E6E77"/>
                </a:solidFill>
                <a:latin typeface="Malgun Gothic"/>
              </a:rPr>
              <a:t>outputs/tables/ · scripts/15_wesad_hrv.py · docs/HRV_VERDICT.md      지표의 문제가 아니라 폼팩터의 문제다.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3660FA"/>
                </a:solidFill>
                <a:latin typeface="Malgun Gothic"/>
              </a:rPr>
              <a:t>기존 6·7장 재작성 · 위치 이동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1">
                <a:solidFill>
                  <a:srgbClr val="1A1A1E"/>
                </a:solidFill>
                <a:latin typeface="Malgun Gothic"/>
              </a:rPr>
              <a:t>손목이 못 재는 것을 보완한다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6E6E77"/>
                </a:solidFill>
                <a:latin typeface="Malgun Gothic"/>
              </a:rPr>
              <a:t>앞 장의 판정이 그대로 설계 기준이 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75104"/>
            <a:ext cx="3931920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1">
                <a:solidFill>
                  <a:srgbClr val="3660FA"/>
                </a:solidFill>
                <a:latin typeface="Malgun Gothic"/>
              </a:rPr>
              <a:t>앞 장에서 확정된 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39572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47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95728"/>
            <a:ext cx="329184" cy="32918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2377440"/>
            <a:ext cx="3291840" cy="29260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심박수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5" y="2688336"/>
            <a:ext cx="3291840" cy="512064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69043"/>
              </a:lnSpc>
            </a:pPr>
            <a:r>
              <a:rPr sz="1150" b="0">
                <a:solidFill>
                  <a:srgbClr val="6E6E77"/>
                </a:solidFill>
                <a:latin typeface="Malgun Gothic"/>
              </a:rPr>
              <a:t>손목으로 충분히 잡힌다 (15/15명)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332841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47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328416"/>
            <a:ext cx="329184" cy="32918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</a:rPr>
              <a:t>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5" y="3310128"/>
            <a:ext cx="3291840" cy="29260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피부전도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5" y="3621024"/>
            <a:ext cx="3291840" cy="512064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69043"/>
              </a:lnSpc>
            </a:pPr>
            <a:r>
              <a:rPr sz="1150" b="0">
                <a:solidFill>
                  <a:srgbClr val="6E6E77"/>
                </a:solidFill>
                <a:latin typeface="Malgun Gothic"/>
              </a:rPr>
              <a:t>실환경에서도 반응한다 (대조군 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426110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D64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261104"/>
            <a:ext cx="329184" cy="32918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5" y="4242816"/>
            <a:ext cx="3291840" cy="29260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HRV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5" y="4553712"/>
            <a:ext cx="3291840" cy="512064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69043"/>
              </a:lnSpc>
            </a:pPr>
            <a:r>
              <a:rPr sz="1150" b="0">
                <a:solidFill>
                  <a:srgbClr val="6E6E77"/>
                </a:solidFill>
                <a:latin typeface="Malgun Gothic"/>
              </a:rPr>
              <a:t>손목에서 지터에 묻힌다 (3.6배)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1783080"/>
            <a:ext cx="6675120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1">
                <a:solidFill>
                  <a:srgbClr val="3660FA"/>
                </a:solidFill>
                <a:latin typeface="Malgun Gothic"/>
              </a:rPr>
              <a:t>그래서 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64608" y="2157984"/>
            <a:ext cx="6675120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92624" y="2267712"/>
            <a:ext cx="457200" cy="36576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1">
                <a:solidFill>
                  <a:srgbClr val="3660FA"/>
                </a:solidFill>
                <a:latin typeface="Malgun Gothic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9824" y="2286000"/>
            <a:ext cx="5943600" cy="29260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1">
                <a:solidFill>
                  <a:srgbClr val="1A1A1E"/>
                </a:solidFill>
                <a:latin typeface="Malgun Gothic"/>
              </a:rPr>
              <a:t>EDA 유지 · 강화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9824" y="2615184"/>
            <a:ext cx="594360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6E6E77"/>
                </a:solidFill>
                <a:latin typeface="Malgun Gothic"/>
              </a:rPr>
              <a:t>피부전도는 실환경에서 살아남은 유일한 채널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9824" y="2871215"/>
            <a:ext cx="5943600" cy="25603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1">
                <a:solidFill>
                  <a:srgbClr val="3660FA"/>
                </a:solidFill>
                <a:latin typeface="Malgun Gothic"/>
              </a:rPr>
              <a:t>근거 · 개인 기준선 / 실환경 이식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64608" y="3255263"/>
            <a:ext cx="6675120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92624" y="3364991"/>
            <a:ext cx="457200" cy="36576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1">
                <a:solidFill>
                  <a:srgbClr val="3660FA"/>
                </a:solidFill>
                <a:latin typeface="Malgun Gothic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9824" y="3383279"/>
            <a:ext cx="5943600" cy="29260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1">
                <a:solidFill>
                  <a:srgbClr val="1A1A1E"/>
                </a:solidFill>
                <a:latin typeface="Malgun Gothic"/>
              </a:rPr>
              <a:t>심부 체온 (폼팩터 분리)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9824" y="3712463"/>
            <a:ext cx="594360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6E6E77"/>
                </a:solidFill>
                <a:latin typeface="Malgun Gothic"/>
              </a:rPr>
              <a:t>손목 표면 온도는 환경·말초 혈류에 흔들린다. 귀·가슴 쪽 측정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9824" y="3968496"/>
            <a:ext cx="5943600" cy="25603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1">
                <a:solidFill>
                  <a:srgbClr val="3660FA"/>
                </a:solidFill>
                <a:latin typeface="Malgun Gothic"/>
              </a:rPr>
              <a:t>근거 · HRV 판정 / 발열 기전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64608" y="4352544"/>
            <a:ext cx="6675120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92624" y="4462272"/>
            <a:ext cx="457200" cy="36576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1">
                <a:solidFill>
                  <a:srgbClr val="3660FA"/>
                </a:solidFill>
                <a:latin typeface="Malgun Gothic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9824" y="4480559"/>
            <a:ext cx="5943600" cy="29260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1">
                <a:solidFill>
                  <a:srgbClr val="1A1A1E"/>
                </a:solidFill>
                <a:latin typeface="Malgun Gothic"/>
              </a:rPr>
              <a:t>HRV 는 보조 지표로 강등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9824" y="4809744"/>
            <a:ext cx="594360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6E6E77"/>
                </a:solidFill>
                <a:latin typeface="Malgun Gothic"/>
              </a:rPr>
              <a:t>손목에서 못 쓴다는 것이 확인됐다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9824" y="5065776"/>
            <a:ext cx="5943600" cy="25603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050" b="1">
                <a:solidFill>
                  <a:srgbClr val="3660FA"/>
                </a:solidFill>
                <a:latin typeface="Malgun Gothic"/>
              </a:rPr>
              <a:t>근거 · HRV 판정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76072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E8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5893307"/>
            <a:ext cx="10424160" cy="329184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3660FA"/>
                </a:solidFill>
                <a:latin typeface="Malgun Gothic"/>
              </a:rPr>
              <a:t>센서를 고른 게 아니라, 못 재는 것을 확인하고 그 자리를 메운다.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6419088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50" b="0">
                <a:solidFill>
                  <a:srgbClr val="6E6E77"/>
                </a:solidFill>
                <a:latin typeface="Malgun Gothic"/>
              </a:rPr>
              <a:t>※ 원래 6·7장의 땀 생화학 패치(코르티솔·젖산)는 이 덱에서 뒷받침할 근거가 없다 — “다음에 검토할 것”으로 분리한다.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3660FA"/>
                </a:solidFill>
                <a:latin typeface="Malgun Gothic"/>
              </a:rPr>
              <a:t>신규 · C순위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1">
                <a:solidFill>
                  <a:srgbClr val="1A1A1E"/>
                </a:solidFill>
                <a:latin typeface="Malgun Gothic"/>
              </a:rPr>
              <a:t>화면이 곧 데이터 수집기다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6E6E77"/>
                </a:solidFill>
                <a:latin typeface="Malgun Gothic"/>
              </a:rPr>
              <a:t>사용자 입력이 없는 기기는 구별할 수 없다 — 그러면 입력을 받으면 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10512"/>
            <a:ext cx="66751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901952"/>
            <a:ext cx="4206240" cy="29260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새벽 · 잘 때 잰다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212848"/>
            <a:ext cx="4206240" cy="25603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6E6E77"/>
                </a:solidFill>
                <a:latin typeface="Malgun Gothic"/>
              </a:rPr>
              <a:t>움직임이 없어 방해 요소가 사라짐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633472"/>
            <a:ext cx="66751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724912"/>
            <a:ext cx="4206240" cy="29260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아침 · “어젯밤 평소와 달랐어요”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035808"/>
            <a:ext cx="4206240" cy="25603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6E6E77"/>
                </a:solidFill>
                <a:latin typeface="Malgun Gothic"/>
              </a:rPr>
              <a:t>이탈이 잡힌 날만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456432"/>
            <a:ext cx="6675120" cy="731520"/>
          </a:xfrm>
          <a:prstGeom prst="roundRect">
            <a:avLst>
              <a:gd name="adj" fmla="val 12500"/>
            </a:avLst>
          </a:prstGeom>
          <a:solidFill>
            <a:srgbClr val="E8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547872"/>
            <a:ext cx="4206240" cy="29260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“혹시 어제 이런 일이 있었나요?”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858768"/>
            <a:ext cx="4206240" cy="25603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6E6E77"/>
                </a:solidFill>
                <a:latin typeface="Malgun Gothic"/>
              </a:rPr>
              <a:t>운동 · 야근 · 음주 · 스트레스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279392"/>
            <a:ext cx="3246120" cy="676656"/>
          </a:xfrm>
          <a:prstGeom prst="roundRect">
            <a:avLst>
              <a:gd name="adj" fmla="val 1351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279392"/>
            <a:ext cx="3246120" cy="67665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24704E"/>
                </a:solidFill>
                <a:latin typeface="Malgun Gothic"/>
              </a:rPr>
              <a:t>체크함 → 조용히 기록만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87368" y="4279392"/>
            <a:ext cx="3246120" cy="676656"/>
          </a:xfrm>
          <a:prstGeom prst="roundRect">
            <a:avLst>
              <a:gd name="adj" fmla="val 13513"/>
            </a:avLst>
          </a:prstGeom>
          <a:solidFill>
            <a:srgbClr val="3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87368" y="4279392"/>
            <a:ext cx="3246120" cy="67665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</a:rPr>
              <a:t>짚이는 것 없음 → 미해결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87368" y="5065776"/>
            <a:ext cx="3246120" cy="676656"/>
          </a:xfrm>
          <a:prstGeom prst="roundRect">
            <a:avLst>
              <a:gd name="adj" fmla="val 13513"/>
            </a:avLst>
          </a:prstGeom>
          <a:solidFill>
            <a:srgbClr val="D64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87368" y="5065776"/>
            <a:ext cx="3246120" cy="67665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</a:rPr>
              <a:t>사흘 연속 → 알림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07808" y="1810512"/>
            <a:ext cx="3931920" cy="2103120"/>
          </a:xfrm>
          <a:prstGeom prst="roundRect">
            <a:avLst>
              <a:gd name="adj" fmla="val 4347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17536" y="1993392"/>
            <a:ext cx="3712463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1">
                <a:solidFill>
                  <a:srgbClr val="D6412A"/>
                </a:solidFill>
                <a:latin typeface="Malgun Gothic"/>
              </a:rPr>
              <a:t>진단하지 않는다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2395728"/>
            <a:ext cx="3712463" cy="137160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74000"/>
              </a:lnSpc>
            </a:pPr>
            <a:r>
              <a:rPr sz="1200" b="0">
                <a:solidFill>
                  <a:srgbClr val="1A1A1E"/>
                </a:solidFill>
                <a:latin typeface="Malgun Gothic"/>
              </a:rPr>
              <a:t>“감염이 의심됩니다”는 의료기기</a:t>
            </a:r>
          </a:p>
          <a:p>
            <a:pPr algn="l">
              <a:lnSpc>
                <a:spcPct val="174000"/>
              </a:lnSpc>
            </a:pPr>
            <a:r>
              <a:rPr sz="1200" b="0">
                <a:solidFill>
                  <a:srgbClr val="1A1A1E"/>
                </a:solidFill>
                <a:latin typeface="Malgun Gothic"/>
              </a:rPr>
              <a:t>영역이다.</a:t>
            </a:r>
          </a:p>
          <a:p>
            <a:pPr algn="l">
              <a:lnSpc>
                <a:spcPct val="174000"/>
              </a:lnSpc>
            </a:pPr>
            <a:r>
              <a:rPr sz="1200" b="0">
                <a:solidFill>
                  <a:srgbClr val="1A1A1E"/>
                </a:solidFill>
                <a:latin typeface="Malgun Gothic"/>
              </a:rPr>
              <a:t/>
            </a:r>
          </a:p>
          <a:p>
            <a:pPr algn="l">
              <a:lnSpc>
                <a:spcPct val="174000"/>
              </a:lnSpc>
            </a:pPr>
            <a:r>
              <a:rPr sz="1200" b="0">
                <a:solidFill>
                  <a:srgbClr val="1A1A1E"/>
                </a:solidFill>
                <a:latin typeface="Malgun Gothic"/>
              </a:rPr>
              <a:t>우리는 설명하지 못한 변화가</a:t>
            </a:r>
          </a:p>
          <a:p>
            <a:pPr algn="l">
              <a:lnSpc>
                <a:spcPct val="174000"/>
              </a:lnSpc>
            </a:pPr>
            <a:r>
              <a:rPr sz="1200" b="0">
                <a:solidFill>
                  <a:srgbClr val="1A1A1E"/>
                </a:solidFill>
                <a:latin typeface="Malgun Gothic"/>
              </a:rPr>
              <a:t>있다는 사실만 알린다.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07808" y="4041648"/>
            <a:ext cx="393192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17536" y="4224528"/>
            <a:ext cx="3712463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3660FA"/>
                </a:solidFill>
                <a:latin typeface="Malgun Gothic"/>
              </a:rPr>
              <a:t>데모 — 현장에서 직접 연다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7536" y="4608576"/>
            <a:ext cx="3712463" cy="100584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76727"/>
              </a:lnSpc>
            </a:pPr>
            <a:r>
              <a:rPr sz="1100" b="0">
                <a:solidFill>
                  <a:srgbClr val="1A1A1E"/>
                </a:solidFill>
                <a:latin typeface="Malgun Gothic"/>
              </a:rPr>
              <a:t>watch/web/index.html</a:t>
            </a:r>
          </a:p>
          <a:p>
            <a:pPr algn="l">
              <a:lnSpc>
                <a:spcPct val="176727"/>
              </a:lnSpc>
            </a:pPr>
            <a:r>
              <a:rPr sz="1100" b="0">
                <a:solidFill>
                  <a:srgbClr val="1A1A1E"/>
                </a:solidFill>
                <a:latin typeface="Malgun Gothic"/>
              </a:rPr>
              <a:t>더블클릭하면 열린다 (Windows 포함)</a:t>
            </a:r>
          </a:p>
          <a:p>
            <a:pPr algn="l">
              <a:lnSpc>
                <a:spcPct val="176727"/>
              </a:lnSpc>
            </a:pPr>
            <a:r>
              <a:rPr sz="1100" b="0">
                <a:solidFill>
                  <a:srgbClr val="1A1A1E"/>
                </a:solidFill>
                <a:latin typeface="Malgun Gothic"/>
              </a:rPr>
              <a:t/>
            </a:r>
          </a:p>
          <a:p>
            <a:pPr algn="l">
              <a:lnSpc>
                <a:spcPct val="176727"/>
              </a:lnSpc>
            </a:pPr>
            <a:r>
              <a:rPr sz="1100" b="0">
                <a:solidFill>
                  <a:srgbClr val="1A1A1E"/>
                </a:solidFill>
                <a:latin typeface="Malgun Gothic"/>
              </a:rPr>
              <a:t>칩을 누르면 판정이 어떻게 바뀌는지</a:t>
            </a:r>
          </a:p>
          <a:p>
            <a:pPr algn="l">
              <a:lnSpc>
                <a:spcPct val="176727"/>
              </a:lnSpc>
            </a:pPr>
            <a:r>
              <a:rPr sz="1100" b="0">
                <a:solidFill>
                  <a:srgbClr val="1A1A1E"/>
                </a:solidFill>
                <a:latin typeface="Malgun Gothic"/>
              </a:rPr>
              <a:t>옆 패널에서 같이 보인다.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888736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E8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6021324"/>
            <a:ext cx="10424160" cy="329184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3660FA"/>
                </a:solidFill>
                <a:latin typeface="Malgun Gothic"/>
              </a:rPr>
              <a:t>이 화면이 제품이자 동시에 라벨 수집기다.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3660FA"/>
                </a:solidFill>
                <a:latin typeface="Malgun Gothic"/>
              </a:rPr>
              <a:t>신규 · C순위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1">
                <a:solidFill>
                  <a:srgbClr val="1A1A1E"/>
                </a:solidFill>
                <a:latin typeface="Malgun Gothic"/>
              </a:rPr>
              <a:t>자기보고가 무죄 증명이 되면 안 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6E6E77"/>
                </a:solidFill>
                <a:latin typeface="Malgun Gothic"/>
              </a:rPr>
              <a:t>운동한 날에도 아플 수 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207008"/>
          </a:xfrm>
          <a:prstGeom prst="roundRect">
            <a:avLst>
              <a:gd name="adj" fmla="val 7575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956816"/>
            <a:ext cx="10607040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1">
                <a:solidFill>
                  <a:srgbClr val="D6412A"/>
                </a:solidFill>
                <a:latin typeface="Malgun Gothic"/>
              </a:rPr>
              <a:t>이런 함정이 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22576"/>
            <a:ext cx="10607040" cy="56692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728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“어제 운동했다”에 체크했다고 창을 닫아버리면 사용자의 자기보고가 곧 무죄 증명이 된다. 그러면 설명이 가장 잘 붙는 사람 — 매일 운동하고 자주 </a:t>
            </a:r>
          </a:p>
          <a:p>
            <a:pPr algn="l">
              <a:lnSpc>
                <a:spcPct val="1728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늦게 자는 사람 — 이 가장 늦게 발견된다.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218688"/>
            <a:ext cx="5285232" cy="21031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3419856"/>
            <a:ext cx="5029200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1">
                <a:solidFill>
                  <a:srgbClr val="3660FA"/>
                </a:solidFill>
                <a:latin typeface="Malgun Gothic"/>
              </a:rPr>
              <a:t>1. 설명이 붙은 날도 지우지 않는다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822191"/>
            <a:ext cx="5029200" cy="128016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728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“그럴 만하다”는 조용히 넘기라는</a:t>
            </a:r>
          </a:p>
          <a:p>
            <a:pPr algn="l">
              <a:lnSpc>
                <a:spcPct val="1728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뜻이지 없던 일로 하라는 뜻이</a:t>
            </a:r>
          </a:p>
          <a:p>
            <a:pPr algn="l">
              <a:lnSpc>
                <a:spcPct val="1728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아니다.</a:t>
            </a:r>
          </a:p>
          <a:p>
            <a:pPr algn="l">
              <a:lnSpc>
                <a:spcPct val="1728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/>
            </a:r>
          </a:p>
          <a:p>
            <a:pPr algn="l">
              <a:lnSpc>
                <a:spcPct val="1728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기록에 그대로 남긴다.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3218688"/>
            <a:ext cx="5285232" cy="21031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3419856"/>
            <a:ext cx="5029200" cy="310896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1">
                <a:solidFill>
                  <a:srgbClr val="3660FA"/>
                </a:solidFill>
                <a:latin typeface="Malgun Gothic"/>
              </a:rPr>
              <a:t>2. 설명에 상한을 둔다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822191"/>
            <a:ext cx="5029200" cy="137160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728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같은 사람이 평소 운동한 날</a:t>
            </a:r>
          </a:p>
          <a:p>
            <a:pPr algn="l">
              <a:lnSpc>
                <a:spcPct val="1728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벗어나는 정도를 학습 구간에서</a:t>
            </a:r>
          </a:p>
          <a:p>
            <a:pPr algn="l">
              <a:lnSpc>
                <a:spcPct val="1728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미리 재둔다.</a:t>
            </a:r>
          </a:p>
          <a:p>
            <a:pPr algn="l">
              <a:lnSpc>
                <a:spcPct val="1728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/>
            </a:r>
          </a:p>
          <a:p>
            <a:pPr algn="l">
              <a:lnSpc>
                <a:spcPct val="1728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그 상한(95분위)을 넘으면</a:t>
            </a:r>
          </a:p>
          <a:p>
            <a:pPr algn="l">
              <a:lnSpc>
                <a:spcPct val="1728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설명이 있어도 닫지 않는다.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76072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893307"/>
            <a:ext cx="10424160" cy="329184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D6412A"/>
                </a:solidFill>
                <a:latin typeface="Malgun Gothic"/>
              </a:rPr>
              <a:t>설명을 받되, 설명에 상한을 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6419088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50" b="0">
                <a:solidFill>
                  <a:srgbClr val="6E6E77"/>
                </a:solidFill>
                <a:latin typeface="Malgun Gothic"/>
              </a:rPr>
              <a:t>deviation.fit_cause_ceiling() / EXCEEDS_EXPLANATION  ·  상한은 학습 구간에서만 정한다 (tests/test_deviation.py)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3660FA"/>
                </a:solidFill>
                <a:latin typeface="Malgun Gothic"/>
              </a:rPr>
              <a:t>신규 · C순위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1">
                <a:solidFill>
                  <a:srgbClr val="1A1A1E"/>
                </a:solidFill>
                <a:latin typeface="Malgun Gothic"/>
              </a:rPr>
              <a:t>사흘 연속일 때만 알린다 — 검증은 아직이다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6E6E77"/>
                </a:solidFill>
                <a:latin typeface="Malgun Gothic"/>
              </a:rPr>
              <a:t>Nurse 15명 · 관측일 236일 = 7.75 인·월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5486400" cy="29260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1A1A1E"/>
                </a:solidFill>
                <a:latin typeface="Malgun Gothic"/>
              </a:rPr>
              <a:t>공짜가 없다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66543"/>
            <a:ext cx="5394960" cy="21031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066543"/>
            <a:ext cx="5394960" cy="420624"/>
          </a:xfrm>
          <a:prstGeom prst="roundRect">
            <a:avLst>
              <a:gd name="adj" fmla="val 21739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66543"/>
            <a:ext cx="1620475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K일 연속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2891" y="2066543"/>
            <a:ext cx="1620475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경보/인·월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9399" y="2066543"/>
            <a:ext cx="1385912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탐지율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487168"/>
            <a:ext cx="5138928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487168"/>
            <a:ext cx="1620475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2891" y="2487168"/>
            <a:ext cx="1620475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3.353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9399" y="2487168"/>
            <a:ext cx="1385912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0.223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" y="2935223"/>
            <a:ext cx="5303520" cy="365760"/>
          </a:xfrm>
          <a:prstGeom prst="roundRect">
            <a:avLst>
              <a:gd name="adj" fmla="val 15000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907791"/>
            <a:ext cx="1620475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A1A1E"/>
                </a:solidFill>
                <a:latin typeface="Malgun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62891" y="2907791"/>
            <a:ext cx="1620475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0.774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9399" y="2907791"/>
            <a:ext cx="1385912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0.096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3328415"/>
            <a:ext cx="5138928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328415"/>
            <a:ext cx="1620475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62891" y="3328415"/>
            <a:ext cx="1620475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0.129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9399" y="3328415"/>
            <a:ext cx="1385912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0.011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" y="3749039"/>
            <a:ext cx="5138928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749039"/>
            <a:ext cx="1620475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62891" y="3749039"/>
            <a:ext cx="1620475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0.000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9399" y="3749039"/>
            <a:ext cx="1385912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0.000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315968"/>
            <a:ext cx="5394960" cy="56692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74000"/>
              </a:lnSpc>
            </a:pPr>
            <a:r>
              <a:rPr sz="1200" b="1">
                <a:solidFill>
                  <a:srgbClr val="1A1A1E"/>
                </a:solidFill>
                <a:latin typeface="Malgun Gothic"/>
              </a:rPr>
              <a:t>“경보를 0.77회까지 줄였다”만 말하면</a:t>
            </a:r>
          </a:p>
          <a:p>
            <a:pPr algn="l">
              <a:lnSpc>
                <a:spcPct val="174000"/>
              </a:lnSpc>
            </a:pPr>
            <a:r>
              <a:rPr sz="1200" b="1">
                <a:solidFill>
                  <a:srgbClr val="1A1A1E"/>
                </a:solidFill>
                <a:latin typeface="Malgun Gothic"/>
              </a:rPr>
              <a:t>탐지율 0.096 을 숨기는 것이다.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1737360"/>
            <a:ext cx="5285232" cy="29260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1">
                <a:solidFill>
                  <a:srgbClr val="D6412A"/>
                </a:solidFill>
                <a:latin typeface="Malgun Gothic"/>
              </a:rPr>
              <a:t>우연 수준을 못 넘는다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2066543"/>
            <a:ext cx="5285232" cy="1682496"/>
          </a:xfrm>
          <a:prstGeom prst="roundRect">
            <a:avLst>
              <a:gd name="adj" fmla="val 5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36208" y="2066543"/>
            <a:ext cx="5285232" cy="420624"/>
          </a:xfrm>
          <a:prstGeom prst="roundRect">
            <a:avLst>
              <a:gd name="adj" fmla="val 21739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64224" y="2066543"/>
            <a:ext cx="541738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1994" y="2066543"/>
            <a:ext cx="1439231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관측 정밀도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7257" y="2066543"/>
            <a:ext cx="1439231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우연 정밀도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52521" y="2066543"/>
            <a:ext cx="840902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64224" y="2487168"/>
            <a:ext cx="5029200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4224" y="2487168"/>
            <a:ext cx="541738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61994" y="2487168"/>
            <a:ext cx="1439231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0.500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57257" y="2487168"/>
            <a:ext cx="1439231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0.612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52521" y="2487168"/>
            <a:ext cx="840902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0.942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64224" y="2907791"/>
            <a:ext cx="5029200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64224" y="2907791"/>
            <a:ext cx="541738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61994" y="2907791"/>
            <a:ext cx="1439231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0.833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57257" y="2907791"/>
            <a:ext cx="1439231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0.635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52521" y="2907791"/>
            <a:ext cx="840902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0">
                <a:solidFill>
                  <a:srgbClr val="1A1A1E"/>
                </a:solidFill>
                <a:latin typeface="Malgun Gothic"/>
              </a:rPr>
              <a:t>0.266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81928" y="3355847"/>
            <a:ext cx="5193792" cy="365760"/>
          </a:xfrm>
          <a:prstGeom prst="roundRect">
            <a:avLst>
              <a:gd name="adj" fmla="val 15000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64224" y="3328415"/>
            <a:ext cx="541738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>
                <a:solidFill>
                  <a:srgbClr val="1A1A1E"/>
                </a:solidFill>
                <a:latin typeface="Malgun Gothic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61994" y="3328415"/>
            <a:ext cx="1439231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1.000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57257" y="3328415"/>
            <a:ext cx="1439231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0.576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52521" y="3328415"/>
            <a:ext cx="840902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ctr">
              <a:lnSpc>
                <a:spcPct val="142000"/>
              </a:lnSpc>
            </a:pPr>
            <a:r>
              <a:rPr sz="1250" b="1">
                <a:solidFill>
                  <a:srgbClr val="D6412A"/>
                </a:solidFill>
                <a:latin typeface="Malgun Gothic"/>
              </a:rPr>
              <a:t>0.576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3895344"/>
            <a:ext cx="5285232" cy="56692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74000"/>
              </a:lnSpc>
            </a:pPr>
            <a:r>
              <a:rPr sz="1200" b="0">
                <a:solidFill>
                  <a:srgbClr val="6E6E77"/>
                </a:solidFill>
                <a:latin typeface="Malgun Gothic"/>
              </a:rPr>
              <a:t>사건일이 관측일의 39.8% 다. 사람별 경보 개수를</a:t>
            </a:r>
          </a:p>
          <a:p>
            <a:pPr algn="l">
              <a:lnSpc>
                <a:spcPct val="174000"/>
              </a:lnSpc>
            </a:pPr>
            <a:r>
              <a:rPr sz="1200" b="0">
                <a:solidFill>
                  <a:srgbClr val="6E6E77"/>
                </a:solidFill>
                <a:latin typeface="Malgun Gothic"/>
              </a:rPr>
              <a:t>유지한 채 날짜만 2,000번 섞어 쟀다.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36208" y="4974336"/>
            <a:ext cx="5285232" cy="640080"/>
          </a:xfrm>
          <a:prstGeom prst="roundRect">
            <a:avLst>
              <a:gd name="adj" fmla="val 14285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36208" y="4974336"/>
            <a:ext cx="5285232" cy="64008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1">
                <a:solidFill>
                  <a:srgbClr val="D6412A"/>
                </a:solidFill>
                <a:latin typeface="Malgun Gothic"/>
              </a:rPr>
              <a:t>“정밀도 1.0”이 우연 0.576 짜리다.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" y="4974336"/>
            <a:ext cx="5394960" cy="640080"/>
          </a:xfrm>
          <a:prstGeom prst="roundRect">
            <a:avLst>
              <a:gd name="adj" fmla="val 1285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4974336"/>
            <a:ext cx="5394960" cy="64008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자는 동안을 전제한 설계를 전부 근무 중인 데이터로 시험했다.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8368" y="576072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6112" y="5893307"/>
            <a:ext cx="10424160" cy="329184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D6412A"/>
                </a:solidFill>
                <a:latin typeface="Malgun Gothic"/>
              </a:rPr>
              <a:t>안 된다고 나온 게 아니라 답이 아직 없는 것이다. 그 구별은 흐리지 않는다.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3660FA"/>
                </a:solidFill>
                <a:latin typeface="Malgun Gothic"/>
              </a:rPr>
              <a:t>기존 15장 교체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1">
                <a:solidFill>
                  <a:srgbClr val="1A1A1E"/>
                </a:solidFill>
                <a:latin typeface="Malgun Gothic"/>
              </a:rPr>
              <a:t>확인한 범위와 다음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6E6E77"/>
                </a:solidFill>
                <a:latin typeface="Malgun Gothic"/>
              </a:rPr>
              <a:t>기존 15장 표를 현재 사실로 교체한다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3127248"/>
          </a:xfrm>
          <a:prstGeom prst="roundRect">
            <a:avLst>
              <a:gd name="adj" fmla="val 29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420624"/>
          </a:xfrm>
          <a:prstGeom prst="roundRect">
            <a:avLst>
              <a:gd name="adj" fmla="val 21739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83080"/>
            <a:ext cx="1557528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연구 방향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9944" y="1783080"/>
            <a:ext cx="5386154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이번에 확인한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2130" y="1783080"/>
            <a:ext cx="3169581" cy="420624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6E6E77"/>
                </a:solidFill>
                <a:latin typeface="Malgun Gothic"/>
              </a:rPr>
              <a:t>다음 과제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2203704"/>
            <a:ext cx="10625328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203704"/>
            <a:ext cx="1557528" cy="67665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개인 기준선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9944" y="2203704"/>
            <a:ext cx="5386154" cy="67665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기준선 3종 비교 완료 · 라벨된 휴식 AUC 0.770 · 시간 기준 0.477(우연 이하)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2130" y="2203704"/>
            <a:ext cx="3169581" cy="67665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수면 중 기준선으로 다시 측정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" y="2880360"/>
            <a:ext cx="10625328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880360"/>
            <a:ext cx="1557528" cy="67665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생활 맥락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9944" y="2880360"/>
            <a:ext cx="5386154" cy="67665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움직임 추가로 운동 혼동 0.15→0.02 · 다만 그 혼동은 전체 오류의 9.5%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2130" y="2880360"/>
            <a:ext cx="3169581" cy="67665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남은 84.6%를 맥락 입력으로 가를 수 있는</a:t>
            </a:r>
          </a:p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" y="3557016"/>
            <a:ext cx="10625328" cy="1097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3557016"/>
            <a:ext cx="1557528" cy="67665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변화의 지속성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9944" y="3557016"/>
            <a:ext cx="5386154" cy="67665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계층 구현 완료 + 검증 시도 · 우연 수준 미달 (데이터가 안 맞아서)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2130" y="3557016"/>
            <a:ext cx="3169581" cy="67665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수면 중 측정 · 사건이 드문 장기 기록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" y="4261104"/>
            <a:ext cx="10789920" cy="621792"/>
          </a:xfrm>
          <a:prstGeom prst="roundRect">
            <a:avLst>
              <a:gd name="adj" fmla="val 8823"/>
            </a:avLst>
          </a:prstGeom>
          <a:solidFill>
            <a:srgbClr val="FB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4233672"/>
            <a:ext cx="1557528" cy="67665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1">
                <a:solidFill>
                  <a:srgbClr val="1A1A1E"/>
                </a:solidFill>
                <a:latin typeface="Malgun Gothic"/>
              </a:rPr>
              <a:t>측정 한계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9944" y="4233672"/>
            <a:ext cx="5386154" cy="67665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1">
                <a:solidFill>
                  <a:srgbClr val="D6412A"/>
                </a:solidFill>
                <a:latin typeface="Malgun Gothic"/>
              </a:rPr>
              <a:t>HRV 는 손목으로 못 잰다 — WESAD 동시측정으로 확정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2130" y="4233672"/>
            <a:ext cx="3169581" cy="676656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1">
                <a:solidFill>
                  <a:srgbClr val="D6412A"/>
                </a:solidFill>
                <a:latin typeface="Malgun Gothic"/>
              </a:rPr>
              <a:t>심부 체온 · EDA 보조 측정 검증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513832"/>
            <a:ext cx="5303520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513832"/>
            <a:ext cx="5303520" cy="64008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1A1A1E"/>
                </a:solidFill>
                <a:latin typeface="Malgun Gothic"/>
              </a:rPr>
              <a:t>얻은 근거 · 상태 판단에 무엇을 쓰고 무엇을 못 쓰는지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5513832"/>
            <a:ext cx="5303520" cy="64008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8" y="5513832"/>
            <a:ext cx="5303520" cy="640080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0">
                <a:solidFill>
                  <a:srgbClr val="1A1A1E"/>
                </a:solidFill>
                <a:latin typeface="Malgun Gothic"/>
              </a:rPr>
              <a:t>해석의 경계 · 감염 여부 판별은 여전히 미검증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038344"/>
            <a:ext cx="10881360" cy="36576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1">
                <a:solidFill>
                  <a:srgbClr val="D6412A"/>
                </a:solidFill>
                <a:latin typeface="Malgun Gothic"/>
              </a:rPr>
              <a:t>세 방향 중 둘은 답이 나왔고, 하나는 왜 답이 안 나오는지를 알아냈다.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274320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00" b="1">
                <a:solidFill>
                  <a:srgbClr val="3660FA"/>
                </a:solidFill>
                <a:latin typeface="Malgun Gothic"/>
              </a:rPr>
              <a:t>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81360" cy="566928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2900" b="1">
                <a:solidFill>
                  <a:srgbClr val="1A1A1E"/>
                </a:solidFill>
                <a:latin typeface="Malgun Gothic"/>
              </a:rPr>
              <a:t>발표 직전 점검표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347472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6E6E77"/>
                </a:solidFill>
                <a:latin typeface="Malgun Gothic"/>
              </a:rPr>
              <a:t>고칠 것 8개 · 준비물 2개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10512"/>
            <a:ext cx="5285232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59" y="1984248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F7F8FA"/>
          </a:solidFill>
          <a:ln w="12700"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1810512"/>
            <a:ext cx="4645152" cy="621792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6 · 7장 「여기 수정하기」 박스 2개 제거 (S19 로 대체)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60320"/>
            <a:ext cx="5285232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59" y="2734056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F7F8FA"/>
          </a:solidFill>
          <a:ln w="12700"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2560320"/>
            <a:ext cx="4645152" cy="621792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6장 제목 겹침 · 오른쪽 「겨부 판」 글자 잔해 제거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310128"/>
            <a:ext cx="5285232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59" y="3483864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F7F8FA"/>
          </a:solidFill>
          <a:ln w="12700"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310128"/>
            <a:ext cx="4645152" cy="621792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11장 「36명」 → 「36명 모집 · 34명 분석」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059935"/>
            <a:ext cx="5285232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59" y="4233672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F7F8FA"/>
          </a:solidFill>
          <a:ln w="12700"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4059935"/>
            <a:ext cx="4645152" cy="621792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13장 「참가자 미분리」를 각주에서 본문 크기로 승격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809744"/>
            <a:ext cx="5285232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59" y="4983480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F7F8FA"/>
          </a:solidFill>
          <a:ln w="12700"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4809744"/>
            <a:ext cx="4645152" cy="621792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15장 표 전면 교체 — 「미검증」 2칸이 사실과 다름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1810512"/>
            <a:ext cx="5285232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1984248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F7F8FA"/>
          </a:solidFill>
          <a:ln w="12700"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1810512"/>
            <a:ext cx="4645152" cy="621792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5장 인용 4개 원문 대조 (음주 63.6→66.6 bpm 출처 필수)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2560320"/>
            <a:ext cx="5285232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2734056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F7F8FA"/>
          </a:solidFill>
          <a:ln w="12700"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2560320"/>
            <a:ext cx="4645152" cy="621792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덱 전체에서 정확도 / Macro F1 혼용 정리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3310128"/>
            <a:ext cx="5285232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3483864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F7F8FA"/>
          </a:solidFill>
          <a:ln w="12700"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3310128"/>
            <a:ext cx="4645152" cy="621792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482구간 수치가 재현 슬라이드 밖으로 새지 않는지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4059935"/>
            <a:ext cx="5285232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0" y="4233672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F7F8FA"/>
          </a:solidFill>
          <a:ln w="12700"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4059935"/>
            <a:ext cx="4645152" cy="621792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watch/web/index.html 이 발표 노트북에서 열리는지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8" y="4809744"/>
            <a:ext cx="5285232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0" y="4983480"/>
            <a:ext cx="274320" cy="274320"/>
          </a:xfrm>
          <a:prstGeom prst="roundRect">
            <a:avLst>
              <a:gd name="adj" fmla="val 16666"/>
            </a:avLst>
          </a:prstGeom>
          <a:solidFill>
            <a:srgbClr val="F7F8FA"/>
          </a:solidFill>
          <a:ln w="12700">
            <a:solidFill>
              <a:srgbClr val="DD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48272" y="4809744"/>
            <a:ext cx="4645152" cy="621792"/>
          </a:xfrm>
          <a:prstGeom prst="rect">
            <a:avLst/>
          </a:prstGeom>
          <a:noFill/>
        </p:spPr>
        <p:txBody>
          <a:bodyPr wrap="none" lIns="146304" rIns="146304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150" b="0">
                <a:solidFill>
                  <a:srgbClr val="1A1A1E"/>
                </a:solidFill>
                <a:latin typeface="Malgun Gothic"/>
              </a:rPr>
              <a:t>백업 — 데모가 안 열릴 경우의 스크린샷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687568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E8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5820155"/>
            <a:ext cx="10424160" cy="329184"/>
          </a:xfrm>
          <a:prstGeom prst="rect">
            <a:avLst/>
          </a:prstGeom>
          <a:noFill/>
        </p:spPr>
        <p:txBody>
          <a:bodyPr wrap="none" lIns="146304" rIns="146304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1">
                <a:solidFill>
                  <a:srgbClr val="3660FA"/>
                </a:solidFill>
                <a:latin typeface="Malgun Gothic"/>
              </a:rPr>
              <a:t>숫자 원본은 전부 README “숫자로 보는 결과”와 outputs/tables/ 에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